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74" r:id="rId6"/>
    <p:sldId id="277" r:id="rId7"/>
    <p:sldId id="276" r:id="rId8"/>
    <p:sldId id="268" r:id="rId9"/>
    <p:sldId id="269" r:id="rId10"/>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varScale="1">
        <p:scale>
          <a:sx n="108" d="100"/>
          <a:sy n="108" d="100"/>
        </p:scale>
        <p:origin x="1764" y="11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pPr/>
              <a:t>16-03-2026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pPr/>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3/16/2026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3/16/2026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3/16/2026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3/16/2026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AMSD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4089581"/>
          </a:xfrm>
          <a:prstGeom prst="rect">
            <a:avLst/>
          </a:prstGeom>
        </p:spPr>
        <p:txBody>
          <a:bodyPr vert="horz" wrap="square" lIns="0" tIns="16510" rIns="0" bIns="0" rtlCol="0">
            <a:spAutoFit/>
          </a:bodyPr>
          <a:lstStyle/>
          <a:p>
            <a:pPr algn="ctr">
              <a:lnSpc>
                <a:spcPct val="100000"/>
              </a:lnSpc>
              <a:spcBef>
                <a:spcPts val="130"/>
              </a:spcBef>
            </a:pPr>
            <a:r>
              <a:rPr lang="en-IN" sz="2400" dirty="0"/>
              <a:t>SKIN CARE PRODUCTS WEBSITE</a:t>
            </a:r>
          </a:p>
          <a:p>
            <a:pPr algn="ctr">
              <a:lnSpc>
                <a:spcPct val="100000"/>
              </a:lnSpc>
              <a:spcBef>
                <a:spcPts val="130"/>
              </a:spcBef>
            </a:pPr>
            <a:endParaRPr lang="en-IN"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S.SRI.ANJAN KUMAR (25B21CS017)</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A.ASHOK (25B21CS019)</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A. NOOKARAJU (25B21CS020)</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J.PRANADEEP KUMAR (24B11CS161)</a:t>
            </a: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Computer Science </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58220" y="1497893"/>
            <a:ext cx="3032125" cy="3579185"/>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Analysis</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Outputs</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Features </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F71F55BA-986F-654A-5E2D-6EB3BA46572D}"/>
              </a:ext>
            </a:extLst>
          </p:cNvPr>
          <p:cNvSpPr txBox="1"/>
          <p:nvPr/>
        </p:nvSpPr>
        <p:spPr>
          <a:xfrm>
            <a:off x="723900" y="1185265"/>
            <a:ext cx="8610600" cy="4601644"/>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200" dirty="0"/>
              <a:t>A Skin Care Products Website is an online platform designed to provide users with easy access to a wide range of skincare products and related information.</a:t>
            </a:r>
          </a:p>
          <a:p>
            <a:pPr marL="342900" indent="-342900" algn="just">
              <a:lnSpc>
                <a:spcPct val="150000"/>
              </a:lnSpc>
              <a:buFont typeface="Arial" panose="020B0604020202020204" pitchFamily="34" charset="0"/>
              <a:buChar char="•"/>
            </a:pPr>
            <a:r>
              <a:rPr lang="en-US" sz="2200" dirty="0"/>
              <a:t>The main objective of this website is to allow customers to browse, compare, and purchase skincare items conveniently from anywhere.</a:t>
            </a:r>
          </a:p>
          <a:p>
            <a:pPr marL="342900" indent="-342900" algn="just">
              <a:lnSpc>
                <a:spcPct val="150000"/>
              </a:lnSpc>
              <a:buFont typeface="Arial" panose="020B0604020202020204" pitchFamily="34" charset="0"/>
              <a:buChar char="•"/>
            </a:pPr>
            <a:r>
              <a:rPr lang="en-US" sz="2200" dirty="0"/>
              <a:t>The platform includes various categories such as face care, body care, hair care, and natural or organic products, enabling users to quickly find products suitable for their skin type and needs.</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25851B59-AD5A-81AD-7D42-C1CD5E589B58}"/>
              </a:ext>
            </a:extLst>
          </p:cNvPr>
          <p:cNvSpPr txBox="1"/>
          <p:nvPr/>
        </p:nvSpPr>
        <p:spPr>
          <a:xfrm>
            <a:off x="723900" y="1437175"/>
            <a:ext cx="8610600" cy="5107873"/>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200" dirty="0"/>
              <a:t>Skin care has become an essential part of daily life as people are increasingly concerned about maintaining healthy and glowing skin. With the rapid growth of the internet and digital technology, many consumers prefer purchasing skincare products online rather than visiting physical stores</a:t>
            </a:r>
          </a:p>
          <a:p>
            <a:pPr marL="342900" indent="-342900" algn="just">
              <a:lnSpc>
                <a:spcPct val="150000"/>
              </a:lnSpc>
              <a:buFont typeface="Arial" panose="020B0604020202020204" pitchFamily="34" charset="0"/>
              <a:buChar char="•"/>
            </a:pPr>
            <a:r>
              <a:rPr lang="en-US" sz="2200" dirty="0"/>
              <a:t>An online Skin Care Products Website provides a convenient platform where customers can explore various skincare items, learn about their benefits, and purchase them easily.</a:t>
            </a:r>
          </a:p>
          <a:p>
            <a:pPr marL="342900" indent="-342900" algn="just">
              <a:lnSpc>
                <a:spcPct val="150000"/>
              </a:lnSpc>
              <a:buFont typeface="Arial" panose="020B0604020202020204" pitchFamily="34" charset="0"/>
              <a:buChar char="•"/>
            </a:pPr>
            <a:r>
              <a:rPr lang="en-US" sz="2200" dirty="0"/>
              <a:t>Overall, the Skin Care Products Website aims to provide a user-friendly and efficient online marketplace for skincare products</a:t>
            </a:r>
            <a:r>
              <a:rPr lang="en-US" sz="2000" dirty="0"/>
              <a:t>.</a:t>
            </a:r>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762000" y="1480344"/>
            <a:ext cx="8534400" cy="4549900"/>
          </a:xfrm>
          <a:prstGeom prst="rect">
            <a:avLst/>
          </a:prstGeom>
          <a:noFill/>
        </p:spPr>
        <p:txBody>
          <a:bodyPr wrap="square" rtlCol="0">
            <a:spAutoFit/>
          </a:bodyPr>
          <a:lstStyle/>
          <a:p>
            <a:pPr>
              <a:spcBef>
                <a:spcPts val="1200"/>
              </a:spcBef>
            </a:pPr>
            <a:r>
              <a:rPr lang="en-US" sz="2400" b="1" dirty="0">
                <a:latin typeface="Times New Roman" panose="02020603050405020304" pitchFamily="18" charset="0"/>
                <a:cs typeface="Times New Roman" panose="02020603050405020304" pitchFamily="18" charset="0"/>
              </a:rPr>
              <a:t>Existing System</a:t>
            </a:r>
          </a:p>
          <a:p>
            <a:pPr marL="285750" lvl="3" indent="-285750">
              <a:lnSpc>
                <a:spcPct val="150000"/>
              </a:lnSpc>
              <a:spcBef>
                <a:spcPts val="1200"/>
              </a:spcBef>
              <a:buFont typeface="Arial" panose="020B0604020202020204" pitchFamily="34" charset="0"/>
              <a:buChar char="•"/>
            </a:pPr>
            <a:r>
              <a:rPr lang="en-US" sz="2200" dirty="0"/>
              <a:t>In the existing system, most skincare products are sold through physical retail stores, cosmetic shops, and supermarkets.</a:t>
            </a:r>
          </a:p>
          <a:p>
            <a:pPr marL="285750" lvl="3" indent="-285750">
              <a:lnSpc>
                <a:spcPct val="150000"/>
              </a:lnSpc>
              <a:spcBef>
                <a:spcPts val="1200"/>
              </a:spcBef>
              <a:buFont typeface="Arial" panose="020B0604020202020204" pitchFamily="34" charset="0"/>
              <a:buChar char="•"/>
            </a:pPr>
            <a:r>
              <a:rPr lang="en-US" sz="2200" dirty="0"/>
              <a:t>Customers need to visit these stores to check different products, compare prices, and select suitable skincare items. </a:t>
            </a:r>
          </a:p>
          <a:p>
            <a:pPr marL="285750" lvl="3" indent="-285750">
              <a:lnSpc>
                <a:spcPct val="150000"/>
              </a:lnSpc>
              <a:spcBef>
                <a:spcPts val="1200"/>
              </a:spcBef>
              <a:buFont typeface="Arial" panose="020B0604020202020204" pitchFamily="34" charset="0"/>
              <a:buChar char="•"/>
            </a:pPr>
            <a:r>
              <a:rPr lang="en-US" sz="2200" dirty="0"/>
              <a:t>This process can be time-consuming and inconvenient, especially when customers want to explore a wide variety of brands and products.</a:t>
            </a:r>
            <a:endParaRPr lang="en-IN" sz="2200" dirty="0">
              <a:latin typeface="Times New Roman" pitchFamily="18" charset="0"/>
              <a:cs typeface="Times New Roman" pitchFamily="18" charset="0"/>
            </a:endParaRP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5CFCD-186A-AAAD-50A8-ECBA708D1FA2}"/>
              </a:ext>
            </a:extLst>
          </p:cNvPr>
          <p:cNvSpPr>
            <a:spLocks noGrp="1"/>
          </p:cNvSpPr>
          <p:nvPr>
            <p:ph type="title"/>
          </p:nvPr>
        </p:nvSpPr>
        <p:spPr>
          <a:xfrm>
            <a:off x="-2362200" y="1752600"/>
            <a:ext cx="1905000" cy="338554"/>
          </a:xfrm>
        </p:spPr>
        <p:txBody>
          <a:bodyPr/>
          <a:lstStyle/>
          <a:p>
            <a:pPr marL="342900" indent="-342900">
              <a:buFont typeface="Arial" panose="020B0604020202020204" pitchFamily="34" charset="0"/>
              <a:buChar char="•"/>
            </a:pPr>
            <a:r>
              <a:rPr lang="en-US" sz="2200" b="0" dirty="0">
                <a:solidFill>
                  <a:schemeClr val="tx1"/>
                </a:solidFill>
              </a:rPr>
              <a:t>User Registration And Login</a:t>
            </a:r>
            <a:endParaRPr lang="en-IN" sz="2200" b="0" dirty="0">
              <a:solidFill>
                <a:schemeClr val="tx1"/>
              </a:solidFill>
            </a:endParaRPr>
          </a:p>
        </p:txBody>
      </p:sp>
      <p:pic>
        <p:nvPicPr>
          <p:cNvPr id="4" name="Picture 3">
            <a:extLst>
              <a:ext uri="{FF2B5EF4-FFF2-40B4-BE49-F238E27FC236}">
                <a16:creationId xmlns:a16="http://schemas.microsoft.com/office/drawing/2014/main" id="{FBD825DD-D2C1-484B-07A3-34B4EA28A661}"/>
              </a:ext>
            </a:extLst>
          </p:cNvPr>
          <p:cNvPicPr>
            <a:picLocks noChangeAspect="1"/>
          </p:cNvPicPr>
          <p:nvPr/>
        </p:nvPicPr>
        <p:blipFill>
          <a:blip r:embed="rId2"/>
          <a:stretch>
            <a:fillRect/>
          </a:stretch>
        </p:blipFill>
        <p:spPr>
          <a:xfrm>
            <a:off x="2362200" y="228600"/>
            <a:ext cx="5105400" cy="1200150"/>
          </a:xfrm>
          <a:prstGeom prst="rect">
            <a:avLst/>
          </a:prstGeom>
        </p:spPr>
      </p:pic>
      <p:sp>
        <p:nvSpPr>
          <p:cNvPr id="6" name="TextBox 5">
            <a:extLst>
              <a:ext uri="{FF2B5EF4-FFF2-40B4-BE49-F238E27FC236}">
                <a16:creationId xmlns:a16="http://schemas.microsoft.com/office/drawing/2014/main" id="{731342C4-228A-975A-27AA-B7E908F3EF5C}"/>
              </a:ext>
            </a:extLst>
          </p:cNvPr>
          <p:cNvSpPr txBox="1"/>
          <p:nvPr/>
        </p:nvSpPr>
        <p:spPr>
          <a:xfrm>
            <a:off x="3962400" y="428565"/>
            <a:ext cx="5029200" cy="400110"/>
          </a:xfrm>
          <a:prstGeom prst="rect">
            <a:avLst/>
          </a:prstGeom>
          <a:noFill/>
        </p:spPr>
        <p:txBody>
          <a:bodyPr wrap="square">
            <a:spAutoFit/>
          </a:bodyPr>
          <a:lstStyle/>
          <a:p>
            <a:r>
              <a:rPr lang="en-IN" sz="2000" dirty="0">
                <a:solidFill>
                  <a:schemeClr val="bg1"/>
                </a:solidFill>
              </a:rPr>
              <a:t>FEATURES</a:t>
            </a:r>
            <a:r>
              <a:rPr lang="en-IN" dirty="0">
                <a:solidFill>
                  <a:schemeClr val="bg1"/>
                </a:solidFill>
              </a:rPr>
              <a:t> </a:t>
            </a:r>
          </a:p>
        </p:txBody>
      </p:sp>
      <p:sp>
        <p:nvSpPr>
          <p:cNvPr id="10" name="TextBox 9">
            <a:extLst>
              <a:ext uri="{FF2B5EF4-FFF2-40B4-BE49-F238E27FC236}">
                <a16:creationId xmlns:a16="http://schemas.microsoft.com/office/drawing/2014/main" id="{FC0C64C2-9A94-6C95-16BB-2578F9EDD458}"/>
              </a:ext>
            </a:extLst>
          </p:cNvPr>
          <p:cNvSpPr txBox="1"/>
          <p:nvPr/>
        </p:nvSpPr>
        <p:spPr>
          <a:xfrm>
            <a:off x="817486" y="1450944"/>
            <a:ext cx="7640714" cy="2734082"/>
          </a:xfrm>
          <a:prstGeom prst="rect">
            <a:avLst/>
          </a:prstGeom>
          <a:noFill/>
        </p:spPr>
        <p:txBody>
          <a:bodyPr wrap="square">
            <a:spAutoFit/>
          </a:bodyPr>
          <a:lstStyle/>
          <a:p>
            <a:pPr marL="285750" lvl="3" indent="-285750">
              <a:lnSpc>
                <a:spcPct val="150000"/>
              </a:lnSpc>
              <a:spcBef>
                <a:spcPts val="1200"/>
              </a:spcBef>
              <a:buFont typeface="Arial" panose="020B0604020202020204" pitchFamily="34" charset="0"/>
              <a:buChar char="•"/>
            </a:pPr>
            <a:r>
              <a:rPr lang="en-US" dirty="0"/>
              <a:t>User Registration and Login</a:t>
            </a:r>
          </a:p>
          <a:p>
            <a:pPr marL="285750" lvl="3" indent="-285750">
              <a:lnSpc>
                <a:spcPct val="150000"/>
              </a:lnSpc>
              <a:spcBef>
                <a:spcPts val="1200"/>
              </a:spcBef>
              <a:buFont typeface="Arial" panose="020B0604020202020204" pitchFamily="34" charset="0"/>
              <a:buChar char="•"/>
            </a:pPr>
            <a:r>
              <a:rPr lang="en-IN" dirty="0"/>
              <a:t>Product Details</a:t>
            </a:r>
          </a:p>
          <a:p>
            <a:pPr marL="285750" lvl="3" indent="-285750">
              <a:lnSpc>
                <a:spcPct val="150000"/>
              </a:lnSpc>
              <a:spcBef>
                <a:spcPts val="1200"/>
              </a:spcBef>
              <a:buFont typeface="Arial" panose="020B0604020202020204" pitchFamily="34" charset="0"/>
              <a:buChar char="•"/>
            </a:pPr>
            <a:r>
              <a:rPr lang="en-IN" dirty="0"/>
              <a:t>Shopping Cart</a:t>
            </a:r>
          </a:p>
          <a:p>
            <a:pPr marL="285750" lvl="3" indent="-285750">
              <a:lnSpc>
                <a:spcPct val="150000"/>
              </a:lnSpc>
              <a:spcBef>
                <a:spcPts val="1200"/>
              </a:spcBef>
              <a:buFont typeface="Arial" panose="020B0604020202020204" pitchFamily="34" charset="0"/>
              <a:buChar char="•"/>
            </a:pPr>
            <a:r>
              <a:rPr lang="en-IN" dirty="0"/>
              <a:t>Customer Reviews and Ratings</a:t>
            </a:r>
          </a:p>
          <a:p>
            <a:pPr marL="285750" lvl="3" indent="-285750">
              <a:lnSpc>
                <a:spcPct val="150000"/>
              </a:lnSpc>
              <a:spcBef>
                <a:spcPts val="1200"/>
              </a:spcBef>
              <a:buFont typeface="Arial" panose="020B0604020202020204" pitchFamily="34" charset="0"/>
              <a:buChar char="•"/>
            </a:pPr>
            <a:r>
              <a:rPr lang="en-IN" dirty="0"/>
              <a:t>Online Ordering</a:t>
            </a:r>
            <a:endParaRPr lang="en-US" sz="1800" dirty="0"/>
          </a:p>
        </p:txBody>
      </p:sp>
      <p:pic>
        <p:nvPicPr>
          <p:cNvPr id="11" name="object 3">
            <a:extLst>
              <a:ext uri="{FF2B5EF4-FFF2-40B4-BE49-F238E27FC236}">
                <a16:creationId xmlns:a16="http://schemas.microsoft.com/office/drawing/2014/main" id="{051B4343-028E-53EE-F7C2-7D31C99ACDCE}"/>
              </a:ext>
            </a:extLst>
          </p:cNvPr>
          <p:cNvPicPr/>
          <p:nvPr/>
        </p:nvPicPr>
        <p:blipFill>
          <a:blip r:embed="rId3"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953142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2A086-995F-84B7-42FE-89AE8E58A17B}"/>
              </a:ext>
            </a:extLst>
          </p:cNvPr>
          <p:cNvSpPr>
            <a:spLocks noGrp="1"/>
          </p:cNvSpPr>
          <p:nvPr>
            <p:ph type="title"/>
          </p:nvPr>
        </p:nvSpPr>
        <p:spPr>
          <a:xfrm>
            <a:off x="533400" y="1593480"/>
            <a:ext cx="2528570" cy="661720"/>
          </a:xfrm>
        </p:spPr>
        <p:txBody>
          <a:bodyPr/>
          <a:lstStyle/>
          <a:p>
            <a:br>
              <a:rPr lang="en-US" sz="2000" dirty="0">
                <a:latin typeface="Times New Roman" panose="02020603050405020304" pitchFamily="18" charset="0"/>
                <a:cs typeface="Times New Roman" panose="02020603050405020304" pitchFamily="18" charset="0"/>
              </a:rPr>
            </a:br>
            <a:endParaRPr lang="en-IN" dirty="0"/>
          </a:p>
        </p:txBody>
      </p:sp>
      <p:grpSp>
        <p:nvGrpSpPr>
          <p:cNvPr id="3" name="object 3">
            <a:extLst>
              <a:ext uri="{FF2B5EF4-FFF2-40B4-BE49-F238E27FC236}">
                <a16:creationId xmlns:a16="http://schemas.microsoft.com/office/drawing/2014/main" id="{0A46EC67-A16A-E3B3-F07C-6058CCC7977D}"/>
              </a:ext>
            </a:extLst>
          </p:cNvPr>
          <p:cNvGrpSpPr/>
          <p:nvPr/>
        </p:nvGrpSpPr>
        <p:grpSpPr>
          <a:xfrm>
            <a:off x="2477248" y="304800"/>
            <a:ext cx="5103904" cy="1198311"/>
            <a:chOff x="2648188" y="47148"/>
            <a:chExt cx="5103904" cy="1198311"/>
          </a:xfrm>
        </p:grpSpPr>
        <p:pic>
          <p:nvPicPr>
            <p:cNvPr id="4" name="object 4">
              <a:extLst>
                <a:ext uri="{FF2B5EF4-FFF2-40B4-BE49-F238E27FC236}">
                  <a16:creationId xmlns:a16="http://schemas.microsoft.com/office/drawing/2014/main" id="{C61A6682-358B-CA8B-333B-1AC300771922}"/>
                </a:ext>
              </a:extLst>
            </p:cNvPr>
            <p:cNvPicPr/>
            <p:nvPr/>
          </p:nvPicPr>
          <p:blipFill>
            <a:blip r:embed="rId2" cstate="print"/>
            <a:stretch>
              <a:fillRect/>
            </a:stretch>
          </p:blipFill>
          <p:spPr>
            <a:xfrm>
              <a:off x="2648188" y="47148"/>
              <a:ext cx="5103904" cy="1198311"/>
            </a:xfrm>
            <a:prstGeom prst="rect">
              <a:avLst/>
            </a:prstGeom>
          </p:spPr>
        </p:pic>
        <p:pic>
          <p:nvPicPr>
            <p:cNvPr id="5" name="object 5">
              <a:extLst>
                <a:ext uri="{FF2B5EF4-FFF2-40B4-BE49-F238E27FC236}">
                  <a16:creationId xmlns:a16="http://schemas.microsoft.com/office/drawing/2014/main" id="{E3C64CAB-C455-465D-05B6-655FC6379A70}"/>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081AAD57-7DF5-CC7E-1769-C0B5A952E59D}"/>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0599CB4E-D855-21AA-3369-3662BFE6129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9" name="TextBox 8">
            <a:extLst>
              <a:ext uri="{FF2B5EF4-FFF2-40B4-BE49-F238E27FC236}">
                <a16:creationId xmlns:a16="http://schemas.microsoft.com/office/drawing/2014/main" id="{39871B70-584A-5702-FE36-52AFE94CBEF7}"/>
              </a:ext>
            </a:extLst>
          </p:cNvPr>
          <p:cNvSpPr txBox="1"/>
          <p:nvPr/>
        </p:nvSpPr>
        <p:spPr>
          <a:xfrm>
            <a:off x="3733800" y="520898"/>
            <a:ext cx="5029200" cy="738664"/>
          </a:xfrm>
          <a:prstGeom prst="rect">
            <a:avLst/>
          </a:prstGeom>
          <a:noFill/>
        </p:spPr>
        <p:txBody>
          <a:bodyPr wrap="square">
            <a:spAutoFit/>
          </a:bodyPr>
          <a:lstStyle/>
          <a:p>
            <a:r>
              <a:rPr lang="en-IN" sz="2400" dirty="0">
                <a:solidFill>
                  <a:schemeClr val="bg1"/>
                </a:solidFill>
                <a:latin typeface="Times New Roman" panose="02020603050405020304" pitchFamily="18" charset="0"/>
                <a:cs typeface="Times New Roman" panose="02020603050405020304" pitchFamily="18" charset="0"/>
              </a:rPr>
              <a:t>OUTPUTS</a:t>
            </a:r>
            <a:endParaRPr lang="en-IN" sz="2000" dirty="0">
              <a:solidFill>
                <a:schemeClr val="bg1"/>
              </a:solidFill>
              <a:latin typeface="Times New Roman" panose="02020603050405020304" pitchFamily="18" charset="0"/>
              <a:cs typeface="Times New Roman" panose="02020603050405020304" pitchFamily="18" charset="0"/>
            </a:endParaRPr>
          </a:p>
          <a:p>
            <a:endParaRPr lang="en-IN" dirty="0"/>
          </a:p>
        </p:txBody>
      </p:sp>
      <p:pic>
        <p:nvPicPr>
          <p:cNvPr id="11" name="Picture 10">
            <a:extLst>
              <a:ext uri="{FF2B5EF4-FFF2-40B4-BE49-F238E27FC236}">
                <a16:creationId xmlns:a16="http://schemas.microsoft.com/office/drawing/2014/main" id="{1ECFFD78-343E-87A8-10FB-9DD3D7A9B81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62117" y="1180876"/>
            <a:ext cx="5410200" cy="3101696"/>
          </a:xfrm>
          <a:prstGeom prst="rect">
            <a:avLst/>
          </a:prstGeom>
        </p:spPr>
      </p:pic>
      <p:pic>
        <p:nvPicPr>
          <p:cNvPr id="15" name="Picture 14">
            <a:extLst>
              <a:ext uri="{FF2B5EF4-FFF2-40B4-BE49-F238E27FC236}">
                <a16:creationId xmlns:a16="http://schemas.microsoft.com/office/drawing/2014/main" id="{015BC774-2C27-5393-39A3-75A4A02A7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81200" y="4230455"/>
            <a:ext cx="5638800" cy="3237145"/>
          </a:xfrm>
          <a:prstGeom prst="rect">
            <a:avLst/>
          </a:prstGeom>
        </p:spPr>
      </p:pic>
      <p:pic>
        <p:nvPicPr>
          <p:cNvPr id="16" name="object 3">
            <a:extLst>
              <a:ext uri="{FF2B5EF4-FFF2-40B4-BE49-F238E27FC236}">
                <a16:creationId xmlns:a16="http://schemas.microsoft.com/office/drawing/2014/main" id="{F0354C2C-B866-D3D0-F12D-4AA3886589A2}"/>
              </a:ext>
            </a:extLst>
          </p:cNvPr>
          <p:cNvPicPr/>
          <p:nvPr/>
        </p:nvPicPr>
        <p:blipFill>
          <a:blip r:embed="rId7"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6538270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BB4592-5775-79D7-4F02-0BE4F7025B51}"/>
              </a:ext>
            </a:extLst>
          </p:cNvPr>
          <p:cNvSpPr txBox="1"/>
          <p:nvPr/>
        </p:nvSpPr>
        <p:spPr>
          <a:xfrm>
            <a:off x="950118" y="1323261"/>
            <a:ext cx="8574881" cy="470898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dirty="0">
                <a:latin typeface="Times New Roman" pitchFamily="18" charset="0"/>
                <a:cs typeface="Times New Roman" pitchFamily="18" charset="0"/>
              </a:rPr>
              <a:t>The Billing System project aims to automate the billing process and manage billing data efficiently. </a:t>
            </a:r>
          </a:p>
          <a:p>
            <a:pPr marL="342900" indent="-342900" algn="just">
              <a:lnSpc>
                <a:spcPct val="150000"/>
              </a:lnSpc>
              <a:buFont typeface="Arial" panose="020B0604020202020204" pitchFamily="34" charset="0"/>
              <a:buChar char="•"/>
            </a:pPr>
            <a:r>
              <a:rPr lang="en-US" sz="2000" dirty="0">
                <a:latin typeface="Times New Roman" pitchFamily="18" charset="0"/>
                <a:cs typeface="Times New Roman" pitchFamily="18" charset="0"/>
              </a:rPr>
              <a:t>The proposed system overcomes the drawbacks of the existing manual billing system by reducing errors and saving time. </a:t>
            </a:r>
          </a:p>
          <a:p>
            <a:pPr marL="342900" indent="-342900" algn="just">
              <a:lnSpc>
                <a:spcPct val="150000"/>
              </a:lnSpc>
              <a:buFont typeface="Arial" panose="020B0604020202020204" pitchFamily="34" charset="0"/>
              <a:buChar char="•"/>
            </a:pPr>
            <a:r>
              <a:rPr lang="en-US" sz="2000" dirty="0">
                <a:latin typeface="Times New Roman" pitchFamily="18" charset="0"/>
                <a:cs typeface="Times New Roman" pitchFamily="18" charset="0"/>
              </a:rPr>
              <a:t>Java programming and database integration provide accuracy, reliability, and scalability to the system. </a:t>
            </a:r>
          </a:p>
          <a:p>
            <a:pPr marL="342900" indent="-342900" algn="just">
              <a:lnSpc>
                <a:spcPct val="150000"/>
              </a:lnSpc>
              <a:buFont typeface="Arial" panose="020B0604020202020204" pitchFamily="34" charset="0"/>
              <a:buChar char="•"/>
            </a:pPr>
            <a:r>
              <a:rPr lang="en-US" sz="2000" dirty="0">
                <a:latin typeface="Times New Roman" pitchFamily="18" charset="0"/>
                <a:cs typeface="Times New Roman" pitchFamily="18" charset="0"/>
              </a:rPr>
              <a:t>The initial phase of the project focuses on requirement analysis, understanding the billing process, and planning system modules. Future phases will concentrate on implementation, testing, and further enhancements to improve system performance and usability.</a:t>
            </a:r>
            <a:endParaRPr lang="en-IN" sz="2000" dirty="0">
              <a:latin typeface="Times New Roman" pitchFamily="18" charset="0"/>
              <a:cs typeface="Times New Roman" pitchFamily="18" charset="0"/>
            </a:endParaRPr>
          </a:p>
        </p:txBody>
      </p:sp>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694192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2538</TotalTime>
  <Words>413</Words>
  <Application>Microsoft Office PowerPoint</Application>
  <PresentationFormat>Custom</PresentationFormat>
  <Paragraphs>46</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Cambria</vt:lpstr>
      <vt:lpstr>Palatino Linotype</vt:lpstr>
      <vt:lpstr>Times New Roman</vt:lpstr>
      <vt:lpstr>Office Theme</vt:lpstr>
      <vt:lpstr>AMSD Project Review</vt:lpstr>
      <vt:lpstr>PowerPoint Presentation</vt:lpstr>
      <vt:lpstr>ABSTRACT</vt:lpstr>
      <vt:lpstr>PowerPoint Presentation</vt:lpstr>
      <vt:lpstr>PowerPoint Presentation</vt:lpstr>
      <vt:lpstr>User Registration And Login</vt:lpstr>
      <vt:lpstr> </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ANJAN JIYA</cp:lastModifiedBy>
  <cp:revision>53</cp:revision>
  <cp:lastPrinted>2025-10-14T18:21:49Z</cp:lastPrinted>
  <dcterms:created xsi:type="dcterms:W3CDTF">2025-10-10T08:28:06Z</dcterms:created>
  <dcterms:modified xsi:type="dcterms:W3CDTF">2026-03-16T06:33:36Z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