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7" r:id="rId5"/>
    <p:sldId id="278" r:id="rId6"/>
    <p:sldId id="279" r:id="rId7"/>
    <p:sldId id="280" r:id="rId8"/>
    <p:sldId id="281" r:id="rId9"/>
    <p:sldId id="283" r:id="rId10"/>
    <p:sldId id="284" r:id="rId11"/>
    <p:sldId id="285" r:id="rId12"/>
    <p:sldId id="282" r:id="rId13"/>
    <p:sldId id="269" r:id="rId14"/>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93" d="100"/>
          <a:sy n="93" d="100"/>
        </p:scale>
        <p:origin x="222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07-04-2026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4/7/2026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6.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6.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6.jpe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AMSD Capstone Project</a:t>
            </a:r>
            <a:br>
              <a:rPr lang="en-IN" sz="2200" spc="-10" dirty="0">
                <a:latin typeface="Times New Roman" panose="02020603050405020304" pitchFamily="18" charset="0"/>
                <a:cs typeface="Times New Roman" panose="02020603050405020304" pitchFamily="18" charset="0"/>
              </a:rPr>
            </a:br>
            <a:r>
              <a:rPr lang="en-US" sz="2200" spc="-10" dirty="0">
                <a:latin typeface="Times New Roman" panose="02020603050405020304" pitchFamily="18" charset="0"/>
                <a:cs typeface="Times New Roman" panose="02020603050405020304" pitchFamily="18" charset="0"/>
              </a:rPr>
              <a:t>Second</a:t>
            </a:r>
            <a:r>
              <a:rPr lang="en-IN" sz="2200" spc="-10" dirty="0">
                <a:latin typeface="Times New Roman" panose="02020603050405020304" pitchFamily="18" charset="0"/>
                <a:cs typeface="Times New Roman" panose="02020603050405020304" pitchFamily="18" charset="0"/>
              </a:rPr>
              <a:t>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835665"/>
          </a:xfrm>
          <a:prstGeom prst="rect">
            <a:avLst/>
          </a:prstGeom>
        </p:spPr>
        <p:txBody>
          <a:bodyPr vert="horz" wrap="square" lIns="0" tIns="16510" rIns="0" bIns="0" rtlCol="0">
            <a:spAutoFit/>
          </a:bodyPr>
          <a:lstStyle/>
          <a:p>
            <a:pPr algn="ctr">
              <a:lnSpc>
                <a:spcPct val="100000"/>
              </a:lnSpc>
              <a:spcBef>
                <a:spcPts val="130"/>
              </a:spcBef>
            </a:pPr>
            <a:r>
              <a:rPr lang="en-IN" sz="2400" dirty="0"/>
              <a:t>Food Application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1800" spc="-10" dirty="0">
                <a:solidFill>
                  <a:srgbClr val="17375E"/>
                </a:solidFill>
                <a:latin typeface="Times New Roman" panose="02020603050405020304" pitchFamily="18" charset="0"/>
                <a:cs typeface="Times New Roman" panose="02020603050405020304" pitchFamily="18" charset="0"/>
              </a:rPr>
              <a:t>A.ASHOK (25B21CS019)</a:t>
            </a: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S.SRI ANJAN KUMAR (25B21CS017)</a:t>
            </a: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A.NOOKA RAJU (25B21CS020)</a:t>
            </a: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J.PRANADEEP KUMAR (24B11CS161)</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Computer Science </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872251" y="667992"/>
            <a:ext cx="3847180" cy="8642879"/>
          </a:xfrm>
          <a:prstGeom prst="rect">
            <a:avLst/>
          </a:prstGeom>
        </p:spPr>
        <p:txBody>
          <a:bodyPr vert="horz" wrap="square" lIns="0" tIns="16510" rIns="0" bIns="0" rtlCol="0">
            <a:spAutoFit/>
          </a:bodyPr>
          <a:lstStyle/>
          <a:p>
            <a:pPr marL="389890" indent="-377190">
              <a:lnSpc>
                <a:spcPct val="15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p>
          <a:p>
            <a:pPr marL="389890" indent="-377190">
              <a:lnSpc>
                <a:spcPct val="15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Introduction</a:t>
            </a:r>
          </a:p>
          <a:p>
            <a:pPr marL="389890" indent="-377190">
              <a:lnSpc>
                <a:spcPct val="15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Methodology</a:t>
            </a:r>
          </a:p>
          <a:p>
            <a:pPr marL="389890" indent="-377190">
              <a:lnSpc>
                <a:spcPct val="15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Home page</a:t>
            </a:r>
          </a:p>
          <a:p>
            <a:pPr marL="389890" indent="-377190">
              <a:lnSpc>
                <a:spcPct val="150000"/>
              </a:lnSpc>
              <a:spcBef>
                <a:spcPts val="130"/>
              </a:spcBef>
              <a:buFont typeface="Cambria"/>
              <a:buAutoNum type="arabicPeriod"/>
              <a:tabLst>
                <a:tab pos="389890" algn="l"/>
              </a:tabLst>
            </a:pPr>
            <a:r>
              <a:rPr lang="en-IN" sz="2400" dirty="0">
                <a:latin typeface="Times New Roman" panose="02020603050405020304" pitchFamily="18" charset="0"/>
                <a:cs typeface="Times New Roman" panose="02020603050405020304" pitchFamily="18" charset="0"/>
              </a:rPr>
              <a:t>User account creation</a:t>
            </a:r>
          </a:p>
          <a:p>
            <a:pPr marL="389890" indent="-377190">
              <a:lnSpc>
                <a:spcPct val="150000"/>
              </a:lnSpc>
              <a:spcBef>
                <a:spcPts val="130"/>
              </a:spcBef>
              <a:buFont typeface="Cambria"/>
              <a:buAutoNum type="arabicPeriod"/>
              <a:tabLst>
                <a:tab pos="389890" algn="l"/>
              </a:tabLst>
            </a:pPr>
            <a:r>
              <a:rPr lang="en-IN" sz="2400" dirty="0">
                <a:latin typeface="Times New Roman" panose="02020603050405020304" pitchFamily="18" charset="0"/>
                <a:cs typeface="Times New Roman" panose="02020603050405020304" pitchFamily="18" charset="0"/>
              </a:rPr>
              <a:t>User login</a:t>
            </a:r>
          </a:p>
          <a:p>
            <a:pPr marL="389890" indent="-377190">
              <a:lnSpc>
                <a:spcPct val="150000"/>
              </a:lnSpc>
              <a:spcBef>
                <a:spcPts val="130"/>
              </a:spcBef>
              <a:buFont typeface="Cambria"/>
              <a:buAutoNum type="arabicPeriod"/>
              <a:tabLst>
                <a:tab pos="389890" algn="l"/>
              </a:tabLst>
            </a:pPr>
            <a:r>
              <a:rPr lang="en-IN" sz="2400" dirty="0">
                <a:latin typeface="Times New Roman" panose="02020603050405020304" pitchFamily="18" charset="0"/>
                <a:cs typeface="Times New Roman" panose="02020603050405020304" pitchFamily="18" charset="0"/>
              </a:rPr>
              <a:t>User </a:t>
            </a:r>
            <a:r>
              <a:rPr lang="en-US" sz="2400" dirty="0">
                <a:latin typeface="Times New Roman" panose="02020603050405020304" pitchFamily="18" charset="0"/>
                <a:cs typeface="Times New Roman" panose="02020603050405020304" pitchFamily="18" charset="0"/>
              </a:rPr>
              <a:t>Interface </a:t>
            </a:r>
            <a:endParaRPr lang="en-IN" sz="2400" dirty="0">
              <a:latin typeface="Times New Roman" panose="02020603050405020304" pitchFamily="18" charset="0"/>
              <a:cs typeface="Times New Roman" panose="02020603050405020304" pitchFamily="18" charset="0"/>
            </a:endParaRPr>
          </a:p>
          <a:p>
            <a:pPr marL="389890" indent="-377190">
              <a:lnSpc>
                <a:spcPct val="150000"/>
              </a:lnSpc>
              <a:spcBef>
                <a:spcPts val="130"/>
              </a:spcBef>
              <a:buFont typeface="Cambria"/>
              <a:buAutoNum type="arabicPeriod"/>
              <a:tabLst>
                <a:tab pos="389890" algn="l"/>
              </a:tabLst>
            </a:pPr>
            <a:r>
              <a:rPr lang="en-IN" sz="2400" spc="50" dirty="0">
                <a:latin typeface="Times New Roman" panose="02020603050405020304" pitchFamily="18" charset="0"/>
                <a:cs typeface="Times New Roman" panose="02020603050405020304" pitchFamily="18" charset="0"/>
              </a:rPr>
              <a:t>Cart Page</a:t>
            </a:r>
            <a:endParaRPr lang="en-US" sz="2400" spc="50" dirty="0">
              <a:latin typeface="Times New Roman" panose="02020603050405020304" pitchFamily="18" charset="0"/>
              <a:cs typeface="Times New Roman" panose="02020603050405020304" pitchFamily="18" charset="0"/>
            </a:endParaRPr>
          </a:p>
          <a:p>
            <a:pPr marL="389890" indent="-377190">
              <a:lnSpc>
                <a:spcPct val="150000"/>
              </a:lnSpc>
              <a:spcBef>
                <a:spcPts val="130"/>
              </a:spcBef>
              <a:buFont typeface="Cambria"/>
              <a:buAutoNum type="arabicPeriod"/>
              <a:tabLst>
                <a:tab pos="389890" algn="l"/>
              </a:tabLst>
            </a:pPr>
            <a:r>
              <a:rPr lang="en-IN" sz="2200" spc="50" dirty="0">
                <a:solidFill>
                  <a:schemeClr val="tx1">
                    <a:lumMod val="95000"/>
                    <a:lumOff val="5000"/>
                  </a:schemeClr>
                </a:solidFill>
                <a:latin typeface="Times New Roman" panose="02020603050405020304" pitchFamily="18" charset="0"/>
                <a:cs typeface="Times New Roman" panose="02020603050405020304" pitchFamily="18" charset="0"/>
              </a:rPr>
              <a:t>Order &amp; status Page</a:t>
            </a:r>
          </a:p>
          <a:p>
            <a:pPr marL="389890" indent="-377190">
              <a:lnSpc>
                <a:spcPct val="150000"/>
              </a:lnSpc>
              <a:spcBef>
                <a:spcPts val="130"/>
              </a:spcBef>
              <a:buFont typeface="Cambria"/>
              <a:buAutoNum type="arabicPeriod"/>
              <a:tabLst>
                <a:tab pos="389890" algn="l"/>
              </a:tabLst>
            </a:pPr>
            <a:r>
              <a:rPr lang="en-IN" sz="2200" spc="50" dirty="0">
                <a:solidFill>
                  <a:schemeClr val="tx1">
                    <a:lumMod val="95000"/>
                    <a:lumOff val="5000"/>
                  </a:schemeClr>
                </a:solidFill>
                <a:latin typeface="Times New Roman" panose="02020603050405020304" pitchFamily="18" charset="0"/>
                <a:cs typeface="Times New Roman" panose="02020603050405020304" pitchFamily="18" charset="0"/>
              </a:rPr>
              <a:t>Admin login</a:t>
            </a:r>
          </a:p>
          <a:p>
            <a:pPr marL="389890" indent="-377190">
              <a:lnSpc>
                <a:spcPct val="150000"/>
              </a:lnSpc>
              <a:spcBef>
                <a:spcPts val="130"/>
              </a:spcBef>
              <a:buFont typeface="Cambria"/>
              <a:buAutoNum type="arabicPeriod"/>
              <a:tabLst>
                <a:tab pos="389890" algn="l"/>
              </a:tabLst>
            </a:pPr>
            <a:r>
              <a:rPr lang="en-IN" sz="2200" dirty="0">
                <a:solidFill>
                  <a:schemeClr val="tx1"/>
                </a:solidFill>
                <a:latin typeface="Times New Roman" panose="02020603050405020304" pitchFamily="18" charset="0"/>
                <a:cs typeface="Times New Roman" panose="02020603050405020304" pitchFamily="18" charset="0"/>
              </a:rPr>
              <a:t>Admin Order Status</a:t>
            </a:r>
          </a:p>
          <a:p>
            <a:pPr marL="389890" indent="-377190">
              <a:lnSpc>
                <a:spcPct val="150000"/>
              </a:lnSpc>
              <a:spcBef>
                <a:spcPts val="130"/>
              </a:spcBef>
              <a:buFont typeface="Cambria"/>
              <a:buAutoNum type="arabicPeriod"/>
              <a:tabLst>
                <a:tab pos="389890" algn="l"/>
              </a:tabLst>
            </a:pPr>
            <a:r>
              <a:rPr lang="en-IN" sz="2200" dirty="0">
                <a:solidFill>
                  <a:schemeClr val="tx1"/>
                </a:solidFill>
                <a:latin typeface="Times New Roman" panose="02020603050405020304" pitchFamily="18" charset="0"/>
                <a:cs typeface="Times New Roman" panose="02020603050405020304" pitchFamily="18" charset="0"/>
              </a:rPr>
              <a:t>Work Flow</a:t>
            </a:r>
          </a:p>
          <a:p>
            <a:pPr marL="389890" indent="-377190">
              <a:lnSpc>
                <a:spcPct val="150000"/>
              </a:lnSpc>
              <a:spcBef>
                <a:spcPts val="130"/>
              </a:spcBef>
              <a:buFont typeface="Cambria"/>
              <a:buAutoNum type="arabicPeriod"/>
              <a:tabLst>
                <a:tab pos="389890" algn="l"/>
              </a:tabLst>
            </a:pPr>
            <a:r>
              <a:rPr lang="en-IN" sz="2200" dirty="0">
                <a:solidFill>
                  <a:schemeClr val="tx1"/>
                </a:solidFill>
                <a:latin typeface="Times New Roman" panose="02020603050405020304" pitchFamily="18" charset="0"/>
                <a:cs typeface="Times New Roman" panose="02020603050405020304" pitchFamily="18" charset="0"/>
              </a:rPr>
              <a:t>Conclusion</a:t>
            </a:r>
          </a:p>
          <a:p>
            <a:pPr marL="389890" indent="-377190">
              <a:lnSpc>
                <a:spcPct val="150000"/>
              </a:lnSpc>
              <a:spcBef>
                <a:spcPts val="130"/>
              </a:spcBef>
              <a:buFont typeface="Cambria"/>
              <a:buAutoNum type="arabicPeriod"/>
              <a:tabLst>
                <a:tab pos="389890" algn="l"/>
              </a:tabLst>
            </a:pPr>
            <a:endParaRPr lang="en-IN" sz="2200" dirty="0">
              <a:solidFill>
                <a:schemeClr val="tx1"/>
              </a:solidFill>
              <a:latin typeface="Times New Roman" panose="02020603050405020304" pitchFamily="18" charset="0"/>
              <a:cs typeface="Times New Roman" panose="02020603050405020304" pitchFamily="18" charset="0"/>
            </a:endParaRPr>
          </a:p>
          <a:p>
            <a:pPr marL="389890" indent="-377190">
              <a:lnSpc>
                <a:spcPct val="150000"/>
              </a:lnSpc>
              <a:spcBef>
                <a:spcPts val="130"/>
              </a:spcBef>
              <a:buFont typeface="Cambria"/>
              <a:buAutoNum type="arabicPeriod"/>
              <a:tabLst>
                <a:tab pos="389890" algn="l"/>
              </a:tabLst>
            </a:pPr>
            <a:endParaRPr lang="en-IN" sz="2200" spc="5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89890" indent="-377190">
              <a:lnSpc>
                <a:spcPct val="150000"/>
              </a:lnSpc>
              <a:spcBef>
                <a:spcPts val="130"/>
              </a:spcBef>
              <a:buFont typeface="Cambria"/>
              <a:buAutoNum type="arabicPeriod"/>
              <a:tabLst>
                <a:tab pos="389890" algn="l"/>
              </a:tabLst>
            </a:pPr>
            <a:endParaRPr lang="en-IN" sz="2200" spc="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US" sz="2200" b="1" dirty="0">
                <a:solidFill>
                  <a:schemeClr val="bg1"/>
                </a:solidFill>
                <a:latin typeface="Times New Roman" panose="02020603050405020304" pitchFamily="18" charset="0"/>
                <a:cs typeface="Times New Roman" panose="02020603050405020304" pitchFamily="18" charset="0"/>
              </a:rPr>
              <a:t>GUI OUTPUT</a:t>
            </a:r>
            <a:endParaRPr lang="en-IN" sz="22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4448"/>
          </a:xfrm>
          <a:prstGeom prst="rect">
            <a:avLst/>
          </a:prstGeom>
        </p:spPr>
        <p:txBody>
          <a:bodyPr vert="horz" wrap="square" lIns="0" tIns="16510" rIns="0" bIns="0" rtlCol="0">
            <a:spAutoFit/>
          </a:bodyPr>
          <a:lstStyle/>
          <a:p>
            <a:pPr marL="12700">
              <a:lnSpc>
                <a:spcPct val="100000"/>
              </a:lnSpc>
              <a:spcBef>
                <a:spcPts val="130"/>
              </a:spcBef>
              <a:tabLst>
                <a:tab pos="389890" algn="l"/>
              </a:tabLst>
            </a:pPr>
            <a:r>
              <a:rPr lang="en-IN" sz="2000" spc="-10" dirty="0">
                <a:solidFill>
                  <a:schemeClr val="bg1">
                    <a:lumMod val="95000"/>
                  </a:schemeClr>
                </a:solidFill>
                <a:latin typeface="Times New Roman" panose="02020603050405020304" pitchFamily="18" charset="0"/>
                <a:cs typeface="Times New Roman" panose="02020603050405020304" pitchFamily="18" charset="0"/>
              </a:rPr>
              <a:t>Home Page</a:t>
            </a:r>
            <a:endParaRPr lang="en-IN" sz="2000"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a:extLst>
              <a:ext uri="{FF2B5EF4-FFF2-40B4-BE49-F238E27FC236}">
                <a16:creationId xmlns:a16="http://schemas.microsoft.com/office/drawing/2014/main" id="{D9CA843F-C824-4BFC-58EA-DBEFB0C8224B}"/>
              </a:ext>
            </a:extLst>
          </p:cNvPr>
          <p:cNvSpPr txBox="1"/>
          <p:nvPr/>
        </p:nvSpPr>
        <p:spPr>
          <a:xfrm>
            <a:off x="5624274" y="3902934"/>
            <a:ext cx="4191000" cy="369332"/>
          </a:xfrm>
          <a:prstGeom prst="rect">
            <a:avLst/>
          </a:prstGeom>
          <a:noFill/>
        </p:spPr>
        <p:txBody>
          <a:bodyPr wrap="square" rtlCol="0">
            <a:spAutoFit/>
          </a:bodyPr>
          <a:lstStyle/>
          <a:p>
            <a:pPr algn="l"/>
            <a:endParaRPr lang="en-US"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8E04C92-6DCF-8F71-542A-300CE4CACCFA}"/>
              </a:ext>
            </a:extLst>
          </p:cNvPr>
          <p:cNvSpPr txBox="1"/>
          <p:nvPr/>
        </p:nvSpPr>
        <p:spPr>
          <a:xfrm>
            <a:off x="1676400" y="4495800"/>
            <a:ext cx="6601063" cy="1477328"/>
          </a:xfrm>
          <a:prstGeom prst="rect">
            <a:avLst/>
          </a:prstGeom>
          <a:noFill/>
        </p:spPr>
        <p:txBody>
          <a:bodyPr wrap="square" rtlCol="0">
            <a:spAutoFit/>
          </a:bodyPr>
          <a:lstStyle/>
          <a:p>
            <a:pPr marL="285750" indent="-285750">
              <a:buFont typeface="Arial" panose="020B0604020202020204" pitchFamily="34" charset="0"/>
              <a:buChar char="•"/>
            </a:pPr>
            <a:r>
              <a:rPr lang="en-US" dirty="0"/>
              <a:t>Attractive and modern homepage design with a clean layout</a:t>
            </a:r>
          </a:p>
          <a:p>
            <a:pPr marL="285750" indent="-285750">
              <a:buFont typeface="Arial" panose="020B0604020202020204" pitchFamily="34" charset="0"/>
              <a:buChar char="•"/>
            </a:pPr>
            <a:r>
              <a:rPr lang="en-US" dirty="0"/>
              <a:t>Clear branding with the “CARA” logo at the top</a:t>
            </a:r>
          </a:p>
          <a:p>
            <a:pPr marL="285750" indent="-285750">
              <a:buFont typeface="Arial" panose="020B0604020202020204" pitchFamily="34" charset="0"/>
              <a:buChar char="•"/>
            </a:pPr>
            <a:r>
              <a:rPr lang="en-IN" dirty="0"/>
              <a:t>Easy navigation menu (Bestsellers, Gift sets, </a:t>
            </a:r>
            <a:r>
              <a:rPr lang="en-IN" dirty="0" err="1"/>
              <a:t>Shoprange</a:t>
            </a:r>
            <a:r>
              <a:rPr lang="en-IN" dirty="0"/>
              <a:t>)</a:t>
            </a:r>
          </a:p>
          <a:p>
            <a:pPr marL="285750" indent="-285750">
              <a:buFont typeface="Arial" panose="020B0604020202020204" pitchFamily="34" charset="0"/>
              <a:buChar char="•"/>
            </a:pPr>
            <a:r>
              <a:rPr lang="en-US" dirty="0"/>
              <a:t>Highlighted heading “Cosmetics” to grab user attention</a:t>
            </a:r>
          </a:p>
          <a:p>
            <a:pPr marL="285750" indent="-285750">
              <a:buFont typeface="Arial" panose="020B0604020202020204" pitchFamily="34" charset="0"/>
              <a:buChar char="•"/>
            </a:pPr>
            <a:r>
              <a:rPr lang="en-US" dirty="0"/>
              <a:t>Short description explaining the service clearly</a:t>
            </a:r>
            <a:endParaRPr lang="en-IN" dirty="0"/>
          </a:p>
        </p:txBody>
      </p:sp>
      <p:pic>
        <p:nvPicPr>
          <p:cNvPr id="8" name="Picture 7">
            <a:extLst>
              <a:ext uri="{FF2B5EF4-FFF2-40B4-BE49-F238E27FC236}">
                <a16:creationId xmlns:a16="http://schemas.microsoft.com/office/drawing/2014/main" id="{9914B7DC-6125-34FF-E191-B7EC6314A60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565076" y="1094517"/>
            <a:ext cx="6928247" cy="32895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E2A27B-DC42-FCA4-80BA-F6B15BDF2B65}"/>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68B4543F-F400-4BEB-43CA-5967EE34295B}"/>
              </a:ext>
            </a:extLst>
          </p:cNvPr>
          <p:cNvGrpSpPr/>
          <p:nvPr/>
        </p:nvGrpSpPr>
        <p:grpSpPr>
          <a:xfrm>
            <a:off x="2667000" y="53695"/>
            <a:ext cx="5103904" cy="1198311"/>
            <a:chOff x="2648188" y="47148"/>
            <a:chExt cx="5103904" cy="1198311"/>
          </a:xfrm>
        </p:grpSpPr>
        <p:pic>
          <p:nvPicPr>
            <p:cNvPr id="4" name="object 4">
              <a:extLst>
                <a:ext uri="{FF2B5EF4-FFF2-40B4-BE49-F238E27FC236}">
                  <a16:creationId xmlns:a16="http://schemas.microsoft.com/office/drawing/2014/main" id="{66529B1F-F44E-A5A8-2F07-63E7E40AFCA0}"/>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C601D85A-45D5-A71A-0B38-4763C1F0C886}"/>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4ACB299D-0860-280C-77F5-0BA11AB82523}"/>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E06CD9DD-0E91-AB40-E491-46D4A80CAD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object 9">
            <a:extLst>
              <a:ext uri="{FF2B5EF4-FFF2-40B4-BE49-F238E27FC236}">
                <a16:creationId xmlns:a16="http://schemas.microsoft.com/office/drawing/2014/main" id="{0B788C02-C472-A5AD-1BB7-1A50443E5401}"/>
              </a:ext>
            </a:extLst>
          </p:cNvPr>
          <p:cNvSpPr txBox="1">
            <a:spLocks noGrp="1"/>
          </p:cNvSpPr>
          <p:nvPr>
            <p:ph type="title"/>
          </p:nvPr>
        </p:nvSpPr>
        <p:spPr>
          <a:xfrm>
            <a:off x="3886200" y="333888"/>
            <a:ext cx="275973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User account creation</a:t>
            </a:r>
          </a:p>
        </p:txBody>
      </p:sp>
      <p:pic>
        <p:nvPicPr>
          <p:cNvPr id="10" name="object 3">
            <a:extLst>
              <a:ext uri="{FF2B5EF4-FFF2-40B4-BE49-F238E27FC236}">
                <a16:creationId xmlns:a16="http://schemas.microsoft.com/office/drawing/2014/main" id="{66DA61CB-9BCD-2100-5398-893141FFB416}"/>
              </a:ext>
            </a:extLst>
          </p:cNvPr>
          <p:cNvPicPr/>
          <p:nvPr/>
        </p:nvPicPr>
        <p:blipFill>
          <a:blip r:embed="rId5" cstate="print"/>
          <a:stretch>
            <a:fillRect/>
          </a:stretch>
        </p:blipFill>
        <p:spPr>
          <a:xfrm>
            <a:off x="290750" y="204311"/>
            <a:ext cx="1163002" cy="424338"/>
          </a:xfrm>
          <a:prstGeom prst="rect">
            <a:avLst/>
          </a:prstGeom>
        </p:spPr>
      </p:pic>
      <p:sp>
        <p:nvSpPr>
          <p:cNvPr id="15" name="TextBox 14">
            <a:extLst>
              <a:ext uri="{FF2B5EF4-FFF2-40B4-BE49-F238E27FC236}">
                <a16:creationId xmlns:a16="http://schemas.microsoft.com/office/drawing/2014/main" id="{B31BF072-8875-AD5B-523F-124D889660DC}"/>
              </a:ext>
            </a:extLst>
          </p:cNvPr>
          <p:cNvSpPr txBox="1"/>
          <p:nvPr/>
        </p:nvSpPr>
        <p:spPr>
          <a:xfrm>
            <a:off x="2018552" y="5105400"/>
            <a:ext cx="6400800" cy="1477328"/>
          </a:xfrm>
          <a:prstGeom prst="rect">
            <a:avLst/>
          </a:prstGeom>
          <a:noFill/>
        </p:spPr>
        <p:txBody>
          <a:bodyPr wrap="square" rtlCol="0">
            <a:spAutoFit/>
          </a:bodyPr>
          <a:lstStyle/>
          <a:p>
            <a:pPr marL="285750" indent="-285750">
              <a:buFont typeface="Wingdings" panose="05000000000000000000" pitchFamily="2" charset="2"/>
              <a:buChar char="§"/>
            </a:pPr>
            <a:r>
              <a:rPr lang="en-US" dirty="0"/>
              <a:t>Clean and minimal user interface focused on simplicity</a:t>
            </a:r>
          </a:p>
          <a:p>
            <a:pPr marL="285750" indent="-285750">
              <a:buFont typeface="Wingdings" panose="05000000000000000000" pitchFamily="2" charset="2"/>
              <a:buChar char="§"/>
            </a:pPr>
            <a:r>
              <a:rPr lang="en-IN" dirty="0"/>
              <a:t>Centralized signup form for better user attention</a:t>
            </a:r>
          </a:p>
          <a:p>
            <a:pPr marL="285750" indent="-285750">
              <a:buFont typeface="Wingdings" panose="05000000000000000000" pitchFamily="2" charset="2"/>
              <a:buChar char="§"/>
            </a:pPr>
            <a:r>
              <a:rPr lang="en-US" dirty="0"/>
              <a:t>Fields for Email, and Password for account creation</a:t>
            </a:r>
          </a:p>
          <a:p>
            <a:pPr marL="285750" indent="-285750">
              <a:buFont typeface="Wingdings" panose="05000000000000000000" pitchFamily="2" charset="2"/>
              <a:buChar char="§"/>
            </a:pPr>
            <a:r>
              <a:rPr lang="en-US" dirty="0"/>
              <a:t>Placeholder text helps users understand input requirements</a:t>
            </a:r>
            <a:endParaRPr lang="en-IN" dirty="0"/>
          </a:p>
        </p:txBody>
      </p:sp>
      <p:pic>
        <p:nvPicPr>
          <p:cNvPr id="13" name="Picture 12">
            <a:extLst>
              <a:ext uri="{FF2B5EF4-FFF2-40B4-BE49-F238E27FC236}">
                <a16:creationId xmlns:a16="http://schemas.microsoft.com/office/drawing/2014/main" id="{231169B1-B40A-8F73-6438-0831D4CE1FB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78087" y="878746"/>
            <a:ext cx="7607026" cy="4226654"/>
          </a:xfrm>
          <a:prstGeom prst="rect">
            <a:avLst/>
          </a:prstGeom>
        </p:spPr>
      </p:pic>
    </p:spTree>
    <p:extLst>
      <p:ext uri="{BB962C8B-B14F-4D97-AF65-F5344CB8AC3E}">
        <p14:creationId xmlns:p14="http://schemas.microsoft.com/office/powerpoint/2010/main" val="143642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8B5B7C8-E797-D075-B055-874F7EAA443A}"/>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95A4F466-0E3C-5C6F-2C5D-94AE8321F555}"/>
              </a:ext>
            </a:extLst>
          </p:cNvPr>
          <p:cNvGrpSpPr/>
          <p:nvPr/>
        </p:nvGrpSpPr>
        <p:grpSpPr>
          <a:xfrm>
            <a:off x="2667000" y="53695"/>
            <a:ext cx="5103904" cy="1198311"/>
            <a:chOff x="2648188" y="47148"/>
            <a:chExt cx="5103904" cy="1198311"/>
          </a:xfrm>
        </p:grpSpPr>
        <p:pic>
          <p:nvPicPr>
            <p:cNvPr id="4" name="object 4">
              <a:extLst>
                <a:ext uri="{FF2B5EF4-FFF2-40B4-BE49-F238E27FC236}">
                  <a16:creationId xmlns:a16="http://schemas.microsoft.com/office/drawing/2014/main" id="{9CB6C86F-DA2E-7285-92FC-6C720777EBFC}"/>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56CF5235-4580-B705-049D-EF846C63FBAE}"/>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5097B3A1-2D6B-2075-2C8B-AC06CB95053F}"/>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1E218220-9DEF-1E41-E147-7A16AE66EB7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FF1D8B22-989C-CDE8-783C-FD523809665B}"/>
              </a:ext>
            </a:extLst>
          </p:cNvPr>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User login</a:t>
            </a:r>
          </a:p>
        </p:txBody>
      </p:sp>
      <p:pic>
        <p:nvPicPr>
          <p:cNvPr id="10" name="object 3">
            <a:extLst>
              <a:ext uri="{FF2B5EF4-FFF2-40B4-BE49-F238E27FC236}">
                <a16:creationId xmlns:a16="http://schemas.microsoft.com/office/drawing/2014/main" id="{ECDFDCE1-9B0B-8FD4-0313-58DF3E149662}"/>
              </a:ext>
            </a:extLst>
          </p:cNvPr>
          <p:cNvPicPr/>
          <p:nvPr/>
        </p:nvPicPr>
        <p:blipFill>
          <a:blip r:embed="rId5" cstate="print"/>
          <a:stretch>
            <a:fillRect/>
          </a:stretch>
        </p:blipFill>
        <p:spPr>
          <a:xfrm>
            <a:off x="290750" y="204311"/>
            <a:ext cx="1163002" cy="424338"/>
          </a:xfrm>
          <a:prstGeom prst="rect">
            <a:avLst/>
          </a:prstGeom>
        </p:spPr>
      </p:pic>
      <p:sp>
        <p:nvSpPr>
          <p:cNvPr id="22" name="TextBox 21">
            <a:extLst>
              <a:ext uri="{FF2B5EF4-FFF2-40B4-BE49-F238E27FC236}">
                <a16:creationId xmlns:a16="http://schemas.microsoft.com/office/drawing/2014/main" id="{E185F572-C6D8-386B-55DE-8B85B3EEF900}"/>
              </a:ext>
            </a:extLst>
          </p:cNvPr>
          <p:cNvSpPr txBox="1"/>
          <p:nvPr/>
        </p:nvSpPr>
        <p:spPr>
          <a:xfrm>
            <a:off x="1330371" y="4267200"/>
            <a:ext cx="7619999" cy="1219200"/>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71EB2A84-2306-FE10-D17F-2962CC159BB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83211" y="1342375"/>
            <a:ext cx="8663878" cy="4786793"/>
          </a:xfrm>
          <a:prstGeom prst="rect">
            <a:avLst/>
          </a:prstGeom>
        </p:spPr>
      </p:pic>
    </p:spTree>
    <p:extLst>
      <p:ext uri="{BB962C8B-B14F-4D97-AF65-F5344CB8AC3E}">
        <p14:creationId xmlns:p14="http://schemas.microsoft.com/office/powerpoint/2010/main" val="2656538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B117971-FF9D-D7E2-1380-DA970AEEBA7E}"/>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8CC7AEDA-940F-66B8-664D-2CD91B373495}"/>
              </a:ext>
            </a:extLst>
          </p:cNvPr>
          <p:cNvGrpSpPr/>
          <p:nvPr/>
        </p:nvGrpSpPr>
        <p:grpSpPr>
          <a:xfrm>
            <a:off x="2667000" y="53695"/>
            <a:ext cx="5103904" cy="1198311"/>
            <a:chOff x="2648188" y="47148"/>
            <a:chExt cx="5103904" cy="1198311"/>
          </a:xfrm>
        </p:grpSpPr>
        <p:pic>
          <p:nvPicPr>
            <p:cNvPr id="4" name="object 4">
              <a:extLst>
                <a:ext uri="{FF2B5EF4-FFF2-40B4-BE49-F238E27FC236}">
                  <a16:creationId xmlns:a16="http://schemas.microsoft.com/office/drawing/2014/main" id="{3988C971-87E2-A833-D384-1D1D6E786D4B}"/>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B744B1B5-3265-400C-2D2C-2546B257D25F}"/>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E39E0EC4-3FCA-CFFC-6CCD-99CA2C8D023B}"/>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FCB0A206-2F15-A4DD-3AE3-728563571CD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AE25C083-B2E5-FE88-D280-A85550EA8F02}"/>
              </a:ext>
            </a:extLst>
          </p:cNvPr>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US" sz="1950" dirty="0">
                <a:solidFill>
                  <a:schemeClr val="bg1"/>
                </a:solidFill>
                <a:latin typeface="Times New Roman" panose="02020603050405020304" pitchFamily="18" charset="0"/>
                <a:cs typeface="Times New Roman" panose="02020603050405020304" pitchFamily="18" charset="0"/>
              </a:rPr>
              <a:t>U</a:t>
            </a:r>
            <a:r>
              <a:rPr lang="en-IN" sz="1950" dirty="0">
                <a:solidFill>
                  <a:schemeClr val="bg1"/>
                </a:solidFill>
                <a:latin typeface="Times New Roman" panose="02020603050405020304" pitchFamily="18" charset="0"/>
                <a:cs typeface="Times New Roman" panose="02020603050405020304" pitchFamily="18" charset="0"/>
              </a:rPr>
              <a:t>ser </a:t>
            </a:r>
            <a:r>
              <a:rPr lang="en-US" sz="1950" dirty="0">
                <a:solidFill>
                  <a:schemeClr val="bg1"/>
                </a:solidFill>
                <a:latin typeface="Times New Roman" panose="02020603050405020304" pitchFamily="18" charset="0"/>
                <a:cs typeface="Times New Roman" panose="02020603050405020304" pitchFamily="18" charset="0"/>
              </a:rPr>
              <a:t>Interface </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0" name="object 3">
            <a:extLst>
              <a:ext uri="{FF2B5EF4-FFF2-40B4-BE49-F238E27FC236}">
                <a16:creationId xmlns:a16="http://schemas.microsoft.com/office/drawing/2014/main" id="{C91AF5D9-8E02-0459-9337-339F4FF3A760}"/>
              </a:ext>
            </a:extLst>
          </p:cNvPr>
          <p:cNvPicPr/>
          <p:nvPr/>
        </p:nvPicPr>
        <p:blipFill>
          <a:blip r:embed="rId5" cstate="print"/>
          <a:stretch>
            <a:fillRect/>
          </a:stretch>
        </p:blipFill>
        <p:spPr>
          <a:xfrm>
            <a:off x="290750" y="204311"/>
            <a:ext cx="1163002" cy="424338"/>
          </a:xfrm>
          <a:prstGeom prst="rect">
            <a:avLst/>
          </a:prstGeom>
        </p:spPr>
      </p:pic>
      <p:sp>
        <p:nvSpPr>
          <p:cNvPr id="11" name="TextBox 10">
            <a:extLst>
              <a:ext uri="{FF2B5EF4-FFF2-40B4-BE49-F238E27FC236}">
                <a16:creationId xmlns:a16="http://schemas.microsoft.com/office/drawing/2014/main" id="{B52DC81C-5C4B-6174-74E3-589285ABA99E}"/>
              </a:ext>
            </a:extLst>
          </p:cNvPr>
          <p:cNvSpPr txBox="1"/>
          <p:nvPr/>
        </p:nvSpPr>
        <p:spPr>
          <a:xfrm>
            <a:off x="2286000" y="5410200"/>
            <a:ext cx="6018304"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interface will be displayed once a user is logged 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Can browse through restaurants also can add items to cart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 by adding address user can place order to.</a:t>
            </a:r>
          </a:p>
        </p:txBody>
      </p:sp>
      <p:pic>
        <p:nvPicPr>
          <p:cNvPr id="8" name="Picture 7">
            <a:extLst>
              <a:ext uri="{FF2B5EF4-FFF2-40B4-BE49-F238E27FC236}">
                <a16:creationId xmlns:a16="http://schemas.microsoft.com/office/drawing/2014/main" id="{4AABE0DF-4B5F-39D7-7BC8-AD158B8448A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48161" y="879719"/>
            <a:ext cx="7962078" cy="4463740"/>
          </a:xfrm>
          <a:prstGeom prst="rect">
            <a:avLst/>
          </a:prstGeom>
        </p:spPr>
      </p:pic>
    </p:spTree>
    <p:extLst>
      <p:ext uri="{BB962C8B-B14F-4D97-AF65-F5344CB8AC3E}">
        <p14:creationId xmlns:p14="http://schemas.microsoft.com/office/powerpoint/2010/main" val="3594650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E906CB9-FDB9-317C-885B-3C9F47B5BAC4}"/>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4D867A67-B2E3-D5F5-D67E-C7DA644EE2EB}"/>
              </a:ext>
            </a:extLst>
          </p:cNvPr>
          <p:cNvGrpSpPr/>
          <p:nvPr/>
        </p:nvGrpSpPr>
        <p:grpSpPr>
          <a:xfrm>
            <a:off x="2667000" y="53695"/>
            <a:ext cx="5103904" cy="1198311"/>
            <a:chOff x="2648188" y="47148"/>
            <a:chExt cx="5103904" cy="1198311"/>
          </a:xfrm>
        </p:grpSpPr>
        <p:pic>
          <p:nvPicPr>
            <p:cNvPr id="4" name="object 4">
              <a:extLst>
                <a:ext uri="{FF2B5EF4-FFF2-40B4-BE49-F238E27FC236}">
                  <a16:creationId xmlns:a16="http://schemas.microsoft.com/office/drawing/2014/main" id="{54878BD7-3004-1F4F-2EC8-E2FFB04F665C}"/>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676F61C6-7BAD-78F1-0B4A-3CB0746A289E}"/>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659904A3-CA14-E4A8-D82E-A55352498502}"/>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12FB2362-C6D5-4A2D-B0BE-C792142945D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object 9">
            <a:extLst>
              <a:ext uri="{FF2B5EF4-FFF2-40B4-BE49-F238E27FC236}">
                <a16:creationId xmlns:a16="http://schemas.microsoft.com/office/drawing/2014/main" id="{32968209-CF36-D072-1525-D7156978A82C}"/>
              </a:ext>
            </a:extLst>
          </p:cNvPr>
          <p:cNvSpPr txBox="1">
            <a:spLocks noGrp="1"/>
          </p:cNvSpPr>
          <p:nvPr>
            <p:ph type="title"/>
          </p:nvPr>
        </p:nvSpPr>
        <p:spPr>
          <a:xfrm>
            <a:off x="3962400" y="325191"/>
            <a:ext cx="2548890"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          Cart page</a:t>
            </a:r>
          </a:p>
        </p:txBody>
      </p:sp>
      <p:pic>
        <p:nvPicPr>
          <p:cNvPr id="10" name="object 3">
            <a:extLst>
              <a:ext uri="{FF2B5EF4-FFF2-40B4-BE49-F238E27FC236}">
                <a16:creationId xmlns:a16="http://schemas.microsoft.com/office/drawing/2014/main" id="{AE26F261-4E05-396B-EC50-9B55CD6A20E0}"/>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1A240C9A-70FD-65ED-4DBA-4A489CA640C0}"/>
              </a:ext>
            </a:extLst>
          </p:cNvPr>
          <p:cNvSpPr txBox="1"/>
          <p:nvPr/>
        </p:nvSpPr>
        <p:spPr>
          <a:xfrm>
            <a:off x="1506021" y="5334000"/>
            <a:ext cx="7461648" cy="646331"/>
          </a:xfrm>
          <a:prstGeom prst="rect">
            <a:avLst/>
          </a:prstGeom>
          <a:noFill/>
        </p:spPr>
        <p:txBody>
          <a:bodyPr wrap="square" rtlCol="0">
            <a:spAutoFit/>
          </a:bodyPr>
          <a:lstStyle/>
          <a:p>
            <a:r>
              <a:rPr lang="en-IN" dirty="0"/>
              <a:t>The added items will be displayed in the cart where user can delete the selected items if wanted and continue to place the order</a:t>
            </a:r>
          </a:p>
        </p:txBody>
      </p:sp>
      <p:pic>
        <p:nvPicPr>
          <p:cNvPr id="8" name="Picture 7">
            <a:extLst>
              <a:ext uri="{FF2B5EF4-FFF2-40B4-BE49-F238E27FC236}">
                <a16:creationId xmlns:a16="http://schemas.microsoft.com/office/drawing/2014/main" id="{112E36E2-7A27-5B14-A093-70A7BD9ECBB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603783" y="956544"/>
            <a:ext cx="7161585" cy="3831448"/>
          </a:xfrm>
          <a:prstGeom prst="rect">
            <a:avLst/>
          </a:prstGeom>
        </p:spPr>
      </p:pic>
    </p:spTree>
    <p:extLst>
      <p:ext uri="{BB962C8B-B14F-4D97-AF65-F5344CB8AC3E}">
        <p14:creationId xmlns:p14="http://schemas.microsoft.com/office/powerpoint/2010/main" val="1973246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FA7A01E-8C36-14B2-3302-2FD1CCEF109E}"/>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65FE5AFB-8955-6F14-01D2-8C873A4E42F2}"/>
              </a:ext>
            </a:extLst>
          </p:cNvPr>
          <p:cNvGrpSpPr/>
          <p:nvPr/>
        </p:nvGrpSpPr>
        <p:grpSpPr>
          <a:xfrm>
            <a:off x="2667000" y="53695"/>
            <a:ext cx="5103904" cy="1198311"/>
            <a:chOff x="2648188" y="47148"/>
            <a:chExt cx="5103904" cy="1198311"/>
          </a:xfrm>
        </p:grpSpPr>
        <p:pic>
          <p:nvPicPr>
            <p:cNvPr id="4" name="object 4">
              <a:extLst>
                <a:ext uri="{FF2B5EF4-FFF2-40B4-BE49-F238E27FC236}">
                  <a16:creationId xmlns:a16="http://schemas.microsoft.com/office/drawing/2014/main" id="{950AD70E-7C04-9A1C-E439-E9D48D6F92BE}"/>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26E34A8A-051A-D999-B9FF-641F7F0D1B23}"/>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2281F309-75A4-226A-916E-002E9A2A0351}"/>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CAD16FE9-7C8D-6FA6-C2C9-8844CF9D5C5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object 9">
            <a:extLst>
              <a:ext uri="{FF2B5EF4-FFF2-40B4-BE49-F238E27FC236}">
                <a16:creationId xmlns:a16="http://schemas.microsoft.com/office/drawing/2014/main" id="{37C9BD35-E5CC-121D-941A-087DC596482F}"/>
              </a:ext>
            </a:extLst>
          </p:cNvPr>
          <p:cNvSpPr txBox="1">
            <a:spLocks noGrp="1"/>
          </p:cNvSpPr>
          <p:nvPr>
            <p:ph type="title"/>
          </p:nvPr>
        </p:nvSpPr>
        <p:spPr>
          <a:xfrm>
            <a:off x="3962400" y="325191"/>
            <a:ext cx="2548890"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Order &amp; status </a:t>
            </a:r>
            <a:r>
              <a:rPr lang="en-US" sz="1950" dirty="0">
                <a:solidFill>
                  <a:schemeClr val="bg1"/>
                </a:solidFill>
                <a:latin typeface="Times New Roman" panose="02020603050405020304" pitchFamily="18" charset="0"/>
                <a:cs typeface="Times New Roman" panose="02020603050405020304" pitchFamily="18" charset="0"/>
              </a:rPr>
              <a:t>Page</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0" name="object 3">
            <a:extLst>
              <a:ext uri="{FF2B5EF4-FFF2-40B4-BE49-F238E27FC236}">
                <a16:creationId xmlns:a16="http://schemas.microsoft.com/office/drawing/2014/main" id="{843A8015-4182-C099-8B21-481BD5F103F3}"/>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AF4E7A55-E360-9E69-4ACB-B60FA3C12293}"/>
              </a:ext>
            </a:extLst>
          </p:cNvPr>
          <p:cNvSpPr txBox="1"/>
          <p:nvPr/>
        </p:nvSpPr>
        <p:spPr>
          <a:xfrm>
            <a:off x="2209800" y="5954004"/>
            <a:ext cx="7429500" cy="369332"/>
          </a:xfrm>
          <a:prstGeom prst="rect">
            <a:avLst/>
          </a:prstGeom>
          <a:noFill/>
        </p:spPr>
        <p:txBody>
          <a:bodyPr wrap="square" rtlCol="0">
            <a:spAutoFit/>
          </a:bodyPr>
          <a:lstStyle/>
          <a:p>
            <a:r>
              <a:rPr lang="en-IN" dirty="0"/>
              <a:t>User can add address and place order from here.</a:t>
            </a:r>
          </a:p>
        </p:txBody>
      </p:sp>
      <p:pic>
        <p:nvPicPr>
          <p:cNvPr id="11" name="Picture 10">
            <a:extLst>
              <a:ext uri="{FF2B5EF4-FFF2-40B4-BE49-F238E27FC236}">
                <a16:creationId xmlns:a16="http://schemas.microsoft.com/office/drawing/2014/main" id="{9D15E06B-F9BC-86F5-8747-B9528FB8E30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69904" y="1049340"/>
            <a:ext cx="9140934" cy="4741860"/>
          </a:xfrm>
          <a:prstGeom prst="rect">
            <a:avLst/>
          </a:prstGeom>
        </p:spPr>
      </p:pic>
    </p:spTree>
    <p:extLst>
      <p:ext uri="{BB962C8B-B14F-4D97-AF65-F5344CB8AC3E}">
        <p14:creationId xmlns:p14="http://schemas.microsoft.com/office/powerpoint/2010/main" val="306154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30594D6E-C001-47D3-38D8-A3D3915AB116}"/>
              </a:ext>
            </a:extLst>
          </p:cNvPr>
          <p:cNvPicPr/>
          <p:nvPr/>
        </p:nvPicPr>
        <p:blipFill>
          <a:blip r:embed="rId2" cstate="print"/>
          <a:stretch>
            <a:fillRect/>
          </a:stretch>
        </p:blipFill>
        <p:spPr>
          <a:xfrm>
            <a:off x="290750" y="204311"/>
            <a:ext cx="1163002" cy="424338"/>
          </a:xfrm>
          <a:prstGeom prst="rect">
            <a:avLst/>
          </a:prstGeom>
        </p:spPr>
      </p:pic>
      <p:grpSp>
        <p:nvGrpSpPr>
          <p:cNvPr id="10" name="object 3">
            <a:extLst>
              <a:ext uri="{FF2B5EF4-FFF2-40B4-BE49-F238E27FC236}">
                <a16:creationId xmlns:a16="http://schemas.microsoft.com/office/drawing/2014/main" id="{E5503C7C-8428-C779-0CA3-C499C9F04995}"/>
              </a:ext>
            </a:extLst>
          </p:cNvPr>
          <p:cNvGrpSpPr/>
          <p:nvPr/>
        </p:nvGrpSpPr>
        <p:grpSpPr>
          <a:xfrm>
            <a:off x="2667000" y="53695"/>
            <a:ext cx="5103904" cy="1198311"/>
            <a:chOff x="2648188" y="47148"/>
            <a:chExt cx="5103904" cy="1198311"/>
          </a:xfrm>
        </p:grpSpPr>
        <p:pic>
          <p:nvPicPr>
            <p:cNvPr id="11" name="object 4">
              <a:extLst>
                <a:ext uri="{FF2B5EF4-FFF2-40B4-BE49-F238E27FC236}">
                  <a16:creationId xmlns:a16="http://schemas.microsoft.com/office/drawing/2014/main" id="{D759FEC5-6EB3-D36B-C3EC-536445CAFA0F}"/>
                </a:ext>
              </a:extLst>
            </p:cNvPr>
            <p:cNvPicPr/>
            <p:nvPr/>
          </p:nvPicPr>
          <p:blipFill>
            <a:blip r:embed="rId3" cstate="print"/>
            <a:stretch>
              <a:fillRect/>
            </a:stretch>
          </p:blipFill>
          <p:spPr>
            <a:xfrm>
              <a:off x="2648188" y="47148"/>
              <a:ext cx="5103904" cy="1198311"/>
            </a:xfrm>
            <a:prstGeom prst="rect">
              <a:avLst/>
            </a:prstGeom>
          </p:spPr>
        </p:pic>
        <p:pic>
          <p:nvPicPr>
            <p:cNvPr id="12" name="object 5">
              <a:extLst>
                <a:ext uri="{FF2B5EF4-FFF2-40B4-BE49-F238E27FC236}">
                  <a16:creationId xmlns:a16="http://schemas.microsoft.com/office/drawing/2014/main" id="{7912ED36-DD0D-4FD9-1906-7DDCE4A4BB84}"/>
                </a:ext>
              </a:extLst>
            </p:cNvPr>
            <p:cNvPicPr/>
            <p:nvPr/>
          </p:nvPicPr>
          <p:blipFill>
            <a:blip r:embed="rId4" cstate="print"/>
            <a:stretch>
              <a:fillRect/>
            </a:stretch>
          </p:blipFill>
          <p:spPr>
            <a:xfrm>
              <a:off x="2703195" y="86439"/>
              <a:ext cx="4997767" cy="1092279"/>
            </a:xfrm>
            <a:prstGeom prst="rect">
              <a:avLst/>
            </a:prstGeom>
          </p:spPr>
        </p:pic>
        <p:pic>
          <p:nvPicPr>
            <p:cNvPr id="13" name="object 6">
              <a:extLst>
                <a:ext uri="{FF2B5EF4-FFF2-40B4-BE49-F238E27FC236}">
                  <a16:creationId xmlns:a16="http://schemas.microsoft.com/office/drawing/2014/main" id="{977ACCBC-B403-2466-8D53-027158CA6706}"/>
                </a:ext>
              </a:extLst>
            </p:cNvPr>
            <p:cNvPicPr/>
            <p:nvPr/>
          </p:nvPicPr>
          <p:blipFill>
            <a:blip r:embed="rId5" cstate="print"/>
            <a:stretch>
              <a:fillRect/>
            </a:stretch>
          </p:blipFill>
          <p:spPr>
            <a:xfrm>
              <a:off x="2828925" y="243549"/>
              <a:ext cx="4585268" cy="522565"/>
            </a:xfrm>
            <a:prstGeom prst="rect">
              <a:avLst/>
            </a:prstGeom>
          </p:spPr>
        </p:pic>
        <p:sp>
          <p:nvSpPr>
            <p:cNvPr id="14" name="object 7">
              <a:extLst>
                <a:ext uri="{FF2B5EF4-FFF2-40B4-BE49-F238E27FC236}">
                  <a16:creationId xmlns:a16="http://schemas.microsoft.com/office/drawing/2014/main" id="{E8EB68EB-37DE-B429-34B8-2A778E15FD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ECE8BA29-4F1E-96E9-85F9-F76C08AA7590}"/>
              </a:ext>
            </a:extLst>
          </p:cNvPr>
          <p:cNvSpPr txBox="1"/>
          <p:nvPr/>
        </p:nvSpPr>
        <p:spPr>
          <a:xfrm>
            <a:off x="4261690" y="275111"/>
            <a:ext cx="2209800" cy="430887"/>
          </a:xfrm>
          <a:prstGeom prst="rect">
            <a:avLst/>
          </a:prstGeom>
          <a:noFill/>
        </p:spPr>
        <p:txBody>
          <a:bodyPr wrap="square" rtlCol="0">
            <a:spAutoFit/>
          </a:bodyPr>
          <a:lstStyle/>
          <a:p>
            <a:r>
              <a:rPr lang="en-IN" sz="2200" b="1" dirty="0">
                <a:solidFill>
                  <a:schemeClr val="bg1"/>
                </a:solidFill>
                <a:latin typeface="Times New Roman" panose="02020603050405020304" pitchFamily="18" charset="0"/>
                <a:cs typeface="Times New Roman" panose="02020603050405020304" pitchFamily="18" charset="0"/>
              </a:rPr>
              <a:t>Admin Login</a:t>
            </a:r>
          </a:p>
        </p:txBody>
      </p:sp>
      <p:sp>
        <p:nvSpPr>
          <p:cNvPr id="18" name="TextBox 17">
            <a:extLst>
              <a:ext uri="{FF2B5EF4-FFF2-40B4-BE49-F238E27FC236}">
                <a16:creationId xmlns:a16="http://schemas.microsoft.com/office/drawing/2014/main" id="{3F389290-58E5-F67C-D419-F8247564028B}"/>
              </a:ext>
            </a:extLst>
          </p:cNvPr>
          <p:cNvSpPr txBox="1"/>
          <p:nvPr/>
        </p:nvSpPr>
        <p:spPr>
          <a:xfrm>
            <a:off x="949371" y="5334000"/>
            <a:ext cx="8382000" cy="646331"/>
          </a:xfrm>
          <a:prstGeom prst="rect">
            <a:avLst/>
          </a:prstGeom>
          <a:noFill/>
        </p:spPr>
        <p:txBody>
          <a:bodyPr wrap="square" rtlCol="0">
            <a:spAutoFit/>
          </a:bodyPr>
          <a:lstStyle/>
          <a:p>
            <a:r>
              <a:rPr lang="en-IN" dirty="0"/>
              <a:t>Admin panel will be displayed after logging in with the admin credentials where   the admin can delete or add new restaurant </a:t>
            </a:r>
          </a:p>
        </p:txBody>
      </p:sp>
      <p:pic>
        <p:nvPicPr>
          <p:cNvPr id="6" name="Picture 5">
            <a:extLst>
              <a:ext uri="{FF2B5EF4-FFF2-40B4-BE49-F238E27FC236}">
                <a16:creationId xmlns:a16="http://schemas.microsoft.com/office/drawing/2014/main" id="{C571A8B7-A0D4-2B27-BB1E-656D0A798B4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409860" y="1066800"/>
            <a:ext cx="7238680" cy="3721192"/>
          </a:xfrm>
          <a:prstGeom prst="rect">
            <a:avLst/>
          </a:prstGeom>
        </p:spPr>
      </p:pic>
    </p:spTree>
    <p:extLst>
      <p:ext uri="{BB962C8B-B14F-4D97-AF65-F5344CB8AC3E}">
        <p14:creationId xmlns:p14="http://schemas.microsoft.com/office/powerpoint/2010/main" val="3400352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BA7CEE8B-3EDE-A317-D66A-5F33F8C9C43E}"/>
              </a:ext>
            </a:extLst>
          </p:cNvPr>
          <p:cNvPicPr/>
          <p:nvPr/>
        </p:nvPicPr>
        <p:blipFill>
          <a:blip r:embed="rId2" cstate="print"/>
          <a:stretch>
            <a:fillRect/>
          </a:stretch>
        </p:blipFill>
        <p:spPr>
          <a:xfrm>
            <a:off x="290750" y="204311"/>
            <a:ext cx="1163002" cy="424338"/>
          </a:xfrm>
          <a:prstGeom prst="rect">
            <a:avLst/>
          </a:prstGeom>
        </p:spPr>
      </p:pic>
      <p:grpSp>
        <p:nvGrpSpPr>
          <p:cNvPr id="5" name="object 3">
            <a:extLst>
              <a:ext uri="{FF2B5EF4-FFF2-40B4-BE49-F238E27FC236}">
                <a16:creationId xmlns:a16="http://schemas.microsoft.com/office/drawing/2014/main" id="{FBE502E4-493D-3C00-4AE6-99EB1F0F6E5D}"/>
              </a:ext>
            </a:extLst>
          </p:cNvPr>
          <p:cNvGrpSpPr/>
          <p:nvPr/>
        </p:nvGrpSpPr>
        <p:grpSpPr>
          <a:xfrm>
            <a:off x="2667000" y="53695"/>
            <a:ext cx="5103904" cy="1198311"/>
            <a:chOff x="2648188" y="47148"/>
            <a:chExt cx="5103904" cy="1198311"/>
          </a:xfrm>
        </p:grpSpPr>
        <p:pic>
          <p:nvPicPr>
            <p:cNvPr id="6" name="object 4">
              <a:extLst>
                <a:ext uri="{FF2B5EF4-FFF2-40B4-BE49-F238E27FC236}">
                  <a16:creationId xmlns:a16="http://schemas.microsoft.com/office/drawing/2014/main" id="{F70E74E7-DF4F-7260-1B60-0874077C62B5}"/>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BE5ACBC-403C-48DB-E3D7-9DDCA6E1EC4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92488721-26DE-D6CD-40E5-C78A6E26666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36B1AE53-B076-36FF-508D-3C6893E9AA6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TextBox 11">
            <a:extLst>
              <a:ext uri="{FF2B5EF4-FFF2-40B4-BE49-F238E27FC236}">
                <a16:creationId xmlns:a16="http://schemas.microsoft.com/office/drawing/2014/main" id="{0F26C3BB-8ADA-9414-BD16-535D37309395}"/>
              </a:ext>
            </a:extLst>
          </p:cNvPr>
          <p:cNvSpPr txBox="1"/>
          <p:nvPr/>
        </p:nvSpPr>
        <p:spPr>
          <a:xfrm>
            <a:off x="3771152" y="277805"/>
            <a:ext cx="2895600" cy="430887"/>
          </a:xfrm>
          <a:prstGeom prst="rect">
            <a:avLst/>
          </a:prstGeom>
          <a:noFill/>
        </p:spPr>
        <p:txBody>
          <a:bodyPr wrap="square" rtlCol="0">
            <a:spAutoFit/>
          </a:bodyPr>
          <a:lstStyle/>
          <a:p>
            <a:r>
              <a:rPr lang="en-IN" sz="2200" b="1" dirty="0">
                <a:solidFill>
                  <a:schemeClr val="bg1"/>
                </a:solidFill>
                <a:latin typeface="Times New Roman" panose="02020603050405020304" pitchFamily="18" charset="0"/>
                <a:cs typeface="Times New Roman" panose="02020603050405020304" pitchFamily="18" charset="0"/>
              </a:rPr>
              <a:t>Admin Order Status</a:t>
            </a:r>
          </a:p>
        </p:txBody>
      </p:sp>
      <p:sp>
        <p:nvSpPr>
          <p:cNvPr id="17" name="TextBox 16">
            <a:extLst>
              <a:ext uri="{FF2B5EF4-FFF2-40B4-BE49-F238E27FC236}">
                <a16:creationId xmlns:a16="http://schemas.microsoft.com/office/drawing/2014/main" id="{6567686B-2BD8-70CB-BD73-0FC322890C25}"/>
              </a:ext>
            </a:extLst>
          </p:cNvPr>
          <p:cNvSpPr txBox="1"/>
          <p:nvPr/>
        </p:nvSpPr>
        <p:spPr>
          <a:xfrm>
            <a:off x="1478466" y="5990017"/>
            <a:ext cx="7537848" cy="646331"/>
          </a:xfrm>
          <a:prstGeom prst="rect">
            <a:avLst/>
          </a:prstGeom>
          <a:noFill/>
        </p:spPr>
        <p:txBody>
          <a:bodyPr wrap="square" rtlCol="0">
            <a:spAutoFit/>
          </a:bodyPr>
          <a:lstStyle/>
          <a:p>
            <a:r>
              <a:rPr lang="en-IN" dirty="0"/>
              <a:t>The Admin can change the order status from the admin panel bottom section it self</a:t>
            </a:r>
          </a:p>
        </p:txBody>
      </p:sp>
      <p:pic>
        <p:nvPicPr>
          <p:cNvPr id="3" name="Picture 2">
            <a:extLst>
              <a:ext uri="{FF2B5EF4-FFF2-40B4-BE49-F238E27FC236}">
                <a16:creationId xmlns:a16="http://schemas.microsoft.com/office/drawing/2014/main" id="{02410DFB-43F8-EC02-1475-DEC1096683B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4330" y="1046613"/>
            <a:ext cx="7909739" cy="4464059"/>
          </a:xfrm>
          <a:prstGeom prst="rect">
            <a:avLst/>
          </a:prstGeom>
        </p:spPr>
      </p:pic>
    </p:spTree>
    <p:extLst>
      <p:ext uri="{BB962C8B-B14F-4D97-AF65-F5344CB8AC3E}">
        <p14:creationId xmlns:p14="http://schemas.microsoft.com/office/powerpoint/2010/main" val="2996185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ABC7C22-AA84-25EA-7728-919A6AD76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152" y="1447800"/>
            <a:ext cx="8229600" cy="4724400"/>
          </a:xfrm>
          <a:prstGeom prst="rect">
            <a:avLst/>
          </a:prstGeom>
        </p:spPr>
      </p:pic>
      <p:pic>
        <p:nvPicPr>
          <p:cNvPr id="7" name="object 3">
            <a:extLst>
              <a:ext uri="{FF2B5EF4-FFF2-40B4-BE49-F238E27FC236}">
                <a16:creationId xmlns:a16="http://schemas.microsoft.com/office/drawing/2014/main" id="{79B1654F-A823-2CC0-3E2E-74D5CD5BAE43}"/>
              </a:ext>
            </a:extLst>
          </p:cNvPr>
          <p:cNvPicPr/>
          <p:nvPr/>
        </p:nvPicPr>
        <p:blipFill>
          <a:blip r:embed="rId3" cstate="print"/>
          <a:stretch>
            <a:fillRect/>
          </a:stretch>
        </p:blipFill>
        <p:spPr>
          <a:xfrm>
            <a:off x="290750" y="185262"/>
            <a:ext cx="1163002" cy="424338"/>
          </a:xfrm>
          <a:prstGeom prst="rect">
            <a:avLst/>
          </a:prstGeom>
        </p:spPr>
      </p:pic>
      <p:grpSp>
        <p:nvGrpSpPr>
          <p:cNvPr id="8" name="object 3">
            <a:extLst>
              <a:ext uri="{FF2B5EF4-FFF2-40B4-BE49-F238E27FC236}">
                <a16:creationId xmlns:a16="http://schemas.microsoft.com/office/drawing/2014/main" id="{41989E5E-CF0C-25E3-28CE-910B57287E84}"/>
              </a:ext>
            </a:extLst>
          </p:cNvPr>
          <p:cNvGrpSpPr/>
          <p:nvPr/>
        </p:nvGrpSpPr>
        <p:grpSpPr>
          <a:xfrm>
            <a:off x="2667000" y="53695"/>
            <a:ext cx="5103904" cy="1198311"/>
            <a:chOff x="2648188" y="47148"/>
            <a:chExt cx="5103904" cy="1198311"/>
          </a:xfrm>
        </p:grpSpPr>
        <p:pic>
          <p:nvPicPr>
            <p:cNvPr id="9" name="object 4">
              <a:extLst>
                <a:ext uri="{FF2B5EF4-FFF2-40B4-BE49-F238E27FC236}">
                  <a16:creationId xmlns:a16="http://schemas.microsoft.com/office/drawing/2014/main" id="{BE4A6ADC-41B2-7A9C-A878-162ADD4F82C5}"/>
                </a:ext>
              </a:extLst>
            </p:cNvPr>
            <p:cNvPicPr/>
            <p:nvPr/>
          </p:nvPicPr>
          <p:blipFill>
            <a:blip r:embed="rId4"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0A1B768B-8AB2-93B2-0BF2-F77A6306074B}"/>
                </a:ext>
              </a:extLst>
            </p:cNvPr>
            <p:cNvPicPr/>
            <p:nvPr/>
          </p:nvPicPr>
          <p:blipFill>
            <a:blip r:embed="rId5"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E62AED46-7A92-F4B2-CDA8-EC58723A0B36}"/>
                </a:ext>
              </a:extLst>
            </p:cNvPr>
            <p:cNvPicPr/>
            <p:nvPr/>
          </p:nvPicPr>
          <p:blipFill>
            <a:blip r:embed="rId6"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FF48E0D0-7D18-432C-7A92-19E0C449187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3" name="TextBox 12">
            <a:extLst>
              <a:ext uri="{FF2B5EF4-FFF2-40B4-BE49-F238E27FC236}">
                <a16:creationId xmlns:a16="http://schemas.microsoft.com/office/drawing/2014/main" id="{E92BD8B1-AC20-7D6A-C6E6-544067674519}"/>
              </a:ext>
            </a:extLst>
          </p:cNvPr>
          <p:cNvSpPr txBox="1"/>
          <p:nvPr/>
        </p:nvSpPr>
        <p:spPr>
          <a:xfrm>
            <a:off x="4332888" y="282274"/>
            <a:ext cx="4049111" cy="430887"/>
          </a:xfrm>
          <a:prstGeom prst="rect">
            <a:avLst/>
          </a:prstGeom>
          <a:noFill/>
        </p:spPr>
        <p:txBody>
          <a:bodyPr wrap="square" rtlCol="0">
            <a:spAutoFit/>
          </a:bodyPr>
          <a:lstStyle/>
          <a:p>
            <a:r>
              <a:rPr lang="en-IN" sz="2200" b="1" dirty="0">
                <a:solidFill>
                  <a:schemeClr val="bg1"/>
                </a:solidFill>
                <a:latin typeface="Times New Roman" panose="02020603050405020304" pitchFamily="18" charset="0"/>
                <a:cs typeface="Times New Roman" panose="02020603050405020304" pitchFamily="18" charset="0"/>
              </a:rPr>
              <a:t>Work Flow</a:t>
            </a:r>
          </a:p>
        </p:txBody>
      </p:sp>
      <p:pic>
        <p:nvPicPr>
          <p:cNvPr id="3" name="Picture 2">
            <a:extLst>
              <a:ext uri="{FF2B5EF4-FFF2-40B4-BE49-F238E27FC236}">
                <a16:creationId xmlns:a16="http://schemas.microsoft.com/office/drawing/2014/main" id="{75654C23-E48F-98DA-F9AD-557681FADA56}"/>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2209800" y="1986645"/>
            <a:ext cx="1828800" cy="882327"/>
          </a:xfrm>
          <a:prstGeom prst="rect">
            <a:avLst/>
          </a:prstGeom>
        </p:spPr>
      </p:pic>
    </p:spTree>
    <p:extLst>
      <p:ext uri="{BB962C8B-B14F-4D97-AF65-F5344CB8AC3E}">
        <p14:creationId xmlns:p14="http://schemas.microsoft.com/office/powerpoint/2010/main" val="2380140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EB9D06-3745-73AD-63FB-5B3CF52D54A9}"/>
              </a:ext>
            </a:extLst>
          </p:cNvPr>
          <p:cNvSpPr>
            <a:spLocks noGrp="1"/>
          </p:cNvSpPr>
          <p:nvPr>
            <p:ph type="body" idx="1"/>
          </p:nvPr>
        </p:nvSpPr>
        <p:spPr>
          <a:xfrm>
            <a:off x="665843" y="1676400"/>
            <a:ext cx="8949055" cy="3995142"/>
          </a:xfrm>
        </p:spPr>
        <p:txBody>
          <a:bodyPr/>
          <a:lstStyle/>
          <a:p>
            <a:r>
              <a:rPr lang="en-US" sz="2200" b="0" dirty="0">
                <a:latin typeface="Times New Roman" panose="02020603050405020304" pitchFamily="18" charset="0"/>
                <a:cs typeface="Times New Roman" panose="02020603050405020304" pitchFamily="18" charset="0"/>
              </a:rPr>
              <a:t>The Cara e-commerce web application has been successfully designed and developed as a complete full-stack solution using modern technologies such as React.js, Node.js, Express.js, and MongoDB. The system effectively fulfills all the core requirements of an online shopping platform by providing features like user authentication, product browsing, cart management, order processing, and admin </a:t>
            </a:r>
            <a:r>
              <a:rPr lang="en-US" sz="2200" b="0" dirty="0" err="1">
                <a:latin typeface="Times New Roman" panose="02020603050405020304" pitchFamily="18" charset="0"/>
                <a:cs typeface="Times New Roman" panose="02020603050405020304" pitchFamily="18" charset="0"/>
              </a:rPr>
              <a:t>control.The</a:t>
            </a:r>
            <a:r>
              <a:rPr lang="en-US" sz="2200" b="0" dirty="0">
                <a:latin typeface="Times New Roman" panose="02020603050405020304" pitchFamily="18" charset="0"/>
                <a:cs typeface="Times New Roman" panose="02020603050405020304" pitchFamily="18" charset="0"/>
              </a:rPr>
              <a:t> application offers a user-friendly and responsive interface, ensuring smooth navigation and an enhanced shopping experience. The backend system efficiently handles data processing, API communication, and database operations, while maintaining security through authentication mechanisms such as JWT and encrypted passwords..</a:t>
            </a:r>
            <a:endParaRPr lang="en-IN" sz="2200" b="0" dirty="0">
              <a:latin typeface="Times New Roman" panose="02020603050405020304" pitchFamily="18" charset="0"/>
              <a:cs typeface="Times New Roman" panose="02020603050405020304" pitchFamily="18" charset="0"/>
            </a:endParaRPr>
          </a:p>
        </p:txBody>
      </p:sp>
      <p:grpSp>
        <p:nvGrpSpPr>
          <p:cNvPr id="4" name="object 3">
            <a:extLst>
              <a:ext uri="{FF2B5EF4-FFF2-40B4-BE49-F238E27FC236}">
                <a16:creationId xmlns:a16="http://schemas.microsoft.com/office/drawing/2014/main" id="{F8B09DBC-614C-7997-188B-AAE225DC5762}"/>
              </a:ext>
            </a:extLst>
          </p:cNvPr>
          <p:cNvGrpSpPr/>
          <p:nvPr/>
        </p:nvGrpSpPr>
        <p:grpSpPr>
          <a:xfrm>
            <a:off x="2667000" y="96824"/>
            <a:ext cx="5103904" cy="1283948"/>
            <a:chOff x="2648188" y="47148"/>
            <a:chExt cx="5103904" cy="1198311"/>
          </a:xfrm>
        </p:grpSpPr>
        <p:pic>
          <p:nvPicPr>
            <p:cNvPr id="5" name="object 4">
              <a:extLst>
                <a:ext uri="{FF2B5EF4-FFF2-40B4-BE49-F238E27FC236}">
                  <a16:creationId xmlns:a16="http://schemas.microsoft.com/office/drawing/2014/main" id="{A5FAB5C1-C540-F0B2-269D-D68815F227F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34CC85BB-39E9-3914-D576-0864E6A3B258}"/>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D81B0139-B8FA-7741-0BD7-1C5FC8DE2D39}"/>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B739A946-F857-2758-EBD7-85CDDAA1681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7F1E89C1-07A4-BC03-811B-DB460F9B7684}"/>
              </a:ext>
            </a:extLst>
          </p:cNvPr>
          <p:cNvSpPr txBox="1"/>
          <p:nvPr/>
        </p:nvSpPr>
        <p:spPr>
          <a:xfrm>
            <a:off x="4343400" y="307911"/>
            <a:ext cx="2174079" cy="430887"/>
          </a:xfrm>
          <a:prstGeom prst="rect">
            <a:avLst/>
          </a:prstGeom>
          <a:noFill/>
        </p:spPr>
        <p:txBody>
          <a:bodyPr wrap="square" rtlCol="0">
            <a:spAutoFit/>
          </a:bodyPr>
          <a:lstStyle/>
          <a:p>
            <a:r>
              <a:rPr lang="en-IN" sz="2200" b="1" dirty="0">
                <a:solidFill>
                  <a:schemeClr val="bg1"/>
                </a:solidFill>
                <a:latin typeface="Times New Roman" panose="02020603050405020304" pitchFamily="18" charset="0"/>
                <a:cs typeface="Times New Roman" panose="02020603050405020304" pitchFamily="18" charset="0"/>
              </a:rPr>
              <a:t>Conclusion</a:t>
            </a:r>
          </a:p>
        </p:txBody>
      </p:sp>
      <p:pic>
        <p:nvPicPr>
          <p:cNvPr id="11" name="object 3">
            <a:extLst>
              <a:ext uri="{FF2B5EF4-FFF2-40B4-BE49-F238E27FC236}">
                <a16:creationId xmlns:a16="http://schemas.microsoft.com/office/drawing/2014/main" id="{47D130D4-BA1E-14E3-2F3C-D4C7A9AA1F22}"/>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54986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2735</TotalTime>
  <Words>392</Words>
  <Application>Microsoft Office PowerPoint</Application>
  <PresentationFormat>Custom</PresentationFormat>
  <Paragraphs>54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vt:lpstr>
      <vt:lpstr>Palatino Linotype</vt:lpstr>
      <vt:lpstr>Times New Roman</vt:lpstr>
      <vt:lpstr>Wingdings</vt:lpstr>
      <vt:lpstr>Office Theme</vt:lpstr>
      <vt:lpstr>AMSD Capstone Project Second Review</vt:lpstr>
      <vt:lpstr>PowerPoint Presentation</vt:lpstr>
      <vt:lpstr>Home Page</vt:lpstr>
      <vt:lpstr>User account creation</vt:lpstr>
      <vt:lpstr>User login</vt:lpstr>
      <vt:lpstr>User Interface </vt:lpstr>
      <vt:lpstr>          Cart page</vt:lpstr>
      <vt:lpstr>Order &amp; status Page</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anivireddy ashok</cp:lastModifiedBy>
  <cp:revision>56</cp:revision>
  <cp:lastPrinted>2025-10-14T18:21:49Z</cp:lastPrinted>
  <dcterms:created xsi:type="dcterms:W3CDTF">2025-10-10T08:28:06Z</dcterms:created>
  <dcterms:modified xsi:type="dcterms:W3CDTF">2026-04-07T05:48:17Z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