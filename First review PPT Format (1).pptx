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74" r:id="rId6"/>
    <p:sldId id="275" r:id="rId7"/>
    <p:sldId id="268" r:id="rId8"/>
    <p:sldId id="269" r:id="rId9"/>
  </p:sldIdLst>
  <p:sldSz cx="10058400" cy="7772400"/>
  <p:notesSz cx="10058400" cy="7772400"/>
  <p:defaultTextStyle>
    <a:defPPr>
      <a:defRPr kern="0"/>
    </a:def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244" autoAdjust="0"/>
    <p:restoredTop sz="94660"/>
  </p:normalViewPr>
  <p:slideViewPr>
    <p:cSldViewPr>
      <p:cViewPr varScale="1">
        <p:scale>
          <a:sx n="57" d="100"/>
          <a:sy n="57" d="100"/>
        </p:scale>
        <p:origin x="-1616" y="-80"/>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20-01-2026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xmlns=""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1/20/2026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Capstone Project</a:t>
            </a:r>
            <a:r>
              <a:rPr lang="en-IN" sz="2200" spc="-10" dirty="0">
                <a:latin typeface="Times New Roman" panose="02020603050405020304" pitchFamily="18" charset="0"/>
                <a:cs typeface="Times New Roman" panose="02020603050405020304" pitchFamily="18" charset="0"/>
              </a:rPr>
              <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First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dirty="0" smtClean="0"/>
              <a:t>Billing</a:t>
            </a:r>
            <a:r>
              <a:rPr lang="en-IN" sz="2400" dirty="0" smtClean="0"/>
              <a:t> </a:t>
            </a:r>
            <a:r>
              <a:rPr lang="en-IN" sz="2400" dirty="0"/>
              <a:t>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smtClean="0">
                <a:solidFill>
                  <a:srgbClr val="17375E"/>
                </a:solidFill>
                <a:latin typeface="Times New Roman" panose="02020603050405020304" pitchFamily="18" charset="0"/>
                <a:cs typeface="Times New Roman" panose="02020603050405020304" pitchFamily="18" charset="0"/>
              </a:rPr>
              <a:t>S.SRI.ANJAN KUMAR</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25B21CS017</a:t>
            </a:r>
            <a:r>
              <a:rPr lang="en-IN" sz="2000" spc="-10" dirty="0" smtClean="0">
                <a:solidFill>
                  <a:srgbClr val="17375E"/>
                </a:solidFill>
                <a:latin typeface="Times New Roman" panose="02020603050405020304" pitchFamily="18" charset="0"/>
                <a:cs typeface="Times New Roman" panose="02020603050405020304" pitchFamily="18" charset="0"/>
              </a:rPr>
              <a:t>)</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2000" spc="-10" dirty="0" smtClean="0">
                <a:solidFill>
                  <a:srgbClr val="17375E"/>
                </a:solidFill>
                <a:latin typeface="Times New Roman" panose="02020603050405020304" pitchFamily="18" charset="0"/>
                <a:cs typeface="Times New Roman" panose="02020603050405020304" pitchFamily="18" charset="0"/>
              </a:rPr>
              <a:t>A.ASHOK</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25B21CS019</a:t>
            </a:r>
            <a:r>
              <a:rPr lang="en-IN" sz="2000" spc="-10" dirty="0" smtClean="0">
                <a:solidFill>
                  <a:srgbClr val="17375E"/>
                </a:solidFill>
                <a:latin typeface="Times New Roman" panose="02020603050405020304" pitchFamily="18" charset="0"/>
                <a:cs typeface="Times New Roman" panose="02020603050405020304" pitchFamily="18" charset="0"/>
              </a:rPr>
              <a:t>)</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2000" spc="-10" dirty="0" smtClean="0">
                <a:solidFill>
                  <a:srgbClr val="17375E"/>
                </a:solidFill>
                <a:latin typeface="Times New Roman" panose="02020603050405020304" pitchFamily="18" charset="0"/>
                <a:cs typeface="Times New Roman" panose="02020603050405020304" pitchFamily="18" charset="0"/>
              </a:rPr>
              <a:t>A. NOOKARAJU</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25B21CS020</a:t>
            </a:r>
            <a:r>
              <a:rPr lang="en-IN" sz="2000" spc="-10" dirty="0" smtClean="0">
                <a:solidFill>
                  <a:srgbClr val="17375E"/>
                </a:solidFill>
                <a:latin typeface="Times New Roman" panose="02020603050405020304" pitchFamily="18" charset="0"/>
                <a:cs typeface="Times New Roman" panose="02020603050405020304" pitchFamily="18" charset="0"/>
              </a:rPr>
              <a:t>)</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2000" spc="-10" dirty="0" smtClean="0">
                <a:solidFill>
                  <a:srgbClr val="17375E"/>
                </a:solidFill>
                <a:latin typeface="Times New Roman" panose="02020603050405020304" pitchFamily="18" charset="0"/>
                <a:cs typeface="Times New Roman" panose="02020603050405020304" pitchFamily="18" charset="0"/>
              </a:rPr>
              <a:t>J.PRANADEEP KUMAR</a:t>
            </a:r>
            <a:r>
              <a:rPr lang="en-IN" sz="2000" spc="-10" dirty="0" smtClean="0">
                <a:solidFill>
                  <a:srgbClr val="17375E"/>
                </a:solidFill>
                <a:latin typeface="Times New Roman" panose="02020603050405020304" pitchFamily="18" charset="0"/>
                <a:cs typeface="Times New Roman" panose="02020603050405020304" pitchFamily="18" charset="0"/>
              </a:rPr>
              <a:t> (</a:t>
            </a:r>
            <a:r>
              <a:rPr lang="en-IN" sz="2000" spc="-10" dirty="0" smtClean="0">
                <a:solidFill>
                  <a:srgbClr val="17375E"/>
                </a:solidFill>
                <a:latin typeface="Times New Roman" panose="02020603050405020304" pitchFamily="18" charset="0"/>
                <a:cs typeface="Times New Roman" panose="02020603050405020304" pitchFamily="18" charset="0"/>
              </a:rPr>
              <a:t>24B11CS161</a:t>
            </a:r>
            <a:r>
              <a:rPr lang="en-IN" sz="2000" spc="-10" dirty="0" smtClean="0">
                <a:solidFill>
                  <a:srgbClr val="17375E"/>
                </a:solidFill>
                <a:latin typeface="Times New Roman" panose="02020603050405020304" pitchFamily="18" charset="0"/>
                <a:cs typeface="Times New Roman" panose="02020603050405020304" pitchFamily="18" charset="0"/>
              </a:rPr>
              <a:t>)</a:t>
            </a: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US" sz="2200" dirty="0" smtClean="0">
                <a:solidFill>
                  <a:srgbClr val="943735"/>
                </a:solidFill>
                <a:latin typeface="Times New Roman" panose="02020603050405020304" pitchFamily="18" charset="0"/>
                <a:cs typeface="Times New Roman" panose="02020603050405020304" pitchFamily="18" charset="0"/>
              </a:rPr>
              <a:t>Computer Science </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3579185"/>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Requirements</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Methodology</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xmlns=""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xmlns="" id="{F71F55BA-986F-654A-5E2D-6EB3BA46572D}"/>
              </a:ext>
            </a:extLst>
          </p:cNvPr>
          <p:cNvSpPr txBox="1"/>
          <p:nvPr/>
        </p:nvSpPr>
        <p:spPr>
          <a:xfrm>
            <a:off x="723900" y="1185265"/>
            <a:ext cx="8610600" cy="510947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smtClean="0"/>
              <a:t>The Billing System is a Java-based application designed to make the billing process simple, fast, and accurate</a:t>
            </a:r>
          </a:p>
          <a:p>
            <a:pPr marL="342900" indent="-342900" algn="just">
              <a:lnSpc>
                <a:spcPct val="150000"/>
              </a:lnSpc>
              <a:buFont typeface="Arial" panose="020B0604020202020204" pitchFamily="34" charset="0"/>
              <a:buChar char="•"/>
            </a:pPr>
            <a:r>
              <a:rPr lang="en-US" sz="2200" dirty="0" smtClean="0"/>
              <a:t>This system helps users generate bills by entering item details such as name, quantity, and price. </a:t>
            </a:r>
          </a:p>
          <a:p>
            <a:pPr marL="342900" indent="-342900" algn="just">
              <a:lnSpc>
                <a:spcPct val="150000"/>
              </a:lnSpc>
              <a:buFont typeface="Arial" panose="020B0604020202020204" pitchFamily="34" charset="0"/>
              <a:buChar char="•"/>
            </a:pPr>
            <a:r>
              <a:rPr lang="en-US" sz="2200" dirty="0" smtClean="0"/>
              <a:t>It automatically calculates the total amount, including taxes, which reduces manual work and errors. </a:t>
            </a:r>
          </a:p>
          <a:p>
            <a:pPr marL="342900" indent="-342900" algn="just">
              <a:lnSpc>
                <a:spcPct val="150000"/>
              </a:lnSpc>
              <a:buFont typeface="Arial" panose="020B0604020202020204" pitchFamily="34" charset="0"/>
              <a:buChar char="•"/>
            </a:pPr>
            <a:r>
              <a:rPr lang="en-US" sz="2200" dirty="0" smtClean="0"/>
              <a:t>The billing system is easy to use and saves time for businesses like shops, restaurants, and small organizations. By using Java programming, the system becomes reliable, secure, and efficient for daily billing operations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xmlns=""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xmlns=""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xmlns=""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xmlns=""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xmlns=""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xmlns=""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xmlns=""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xmlns="" id="{25851B59-AD5A-81AD-7D42-C1CD5E589B58}"/>
              </a:ext>
            </a:extLst>
          </p:cNvPr>
          <p:cNvSpPr txBox="1"/>
          <p:nvPr/>
        </p:nvSpPr>
        <p:spPr>
          <a:xfrm>
            <a:off x="723900" y="1437175"/>
            <a:ext cx="8610600"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smtClean="0"/>
              <a:t>The Java-based Billing System automates the billing process by allowing users to enter item details such as quantity and price.</a:t>
            </a:r>
          </a:p>
          <a:p>
            <a:pPr marL="342900" indent="-342900" algn="just">
              <a:lnSpc>
                <a:spcPct val="150000"/>
              </a:lnSpc>
              <a:buFont typeface="Arial" panose="020B0604020202020204" pitchFamily="34" charset="0"/>
              <a:buChar char="•"/>
            </a:pPr>
            <a:r>
              <a:rPr lang="en-US" sz="2200" dirty="0" smtClean="0"/>
              <a:t>This project uses Java programming to provide a simple, reliable, and efficient solution for small shops, restaurants, and businesses.</a:t>
            </a:r>
          </a:p>
          <a:p>
            <a:pPr marL="342900" indent="-342900" algn="just">
              <a:lnSpc>
                <a:spcPct val="150000"/>
              </a:lnSpc>
              <a:buFont typeface="Arial" panose="020B0604020202020204" pitchFamily="34" charset="0"/>
              <a:buChar char="•"/>
            </a:pPr>
            <a:r>
              <a:rPr lang="en-US" sz="2200" dirty="0" smtClean="0"/>
              <a:t>In traditional billing, calculations are done manually, which can be time-consuming and may lead to errors.</a:t>
            </a:r>
          </a:p>
          <a:p>
            <a:pPr marL="342900" indent="-342900" algn="just">
              <a:lnSpc>
                <a:spcPct val="150000"/>
              </a:lnSpc>
              <a:buFont typeface="Arial" panose="020B0604020202020204" pitchFamily="34" charset="0"/>
              <a:buChar char="•"/>
            </a:pPr>
            <a:r>
              <a:rPr lang="en-US" sz="2200" dirty="0" smtClean="0"/>
              <a:t>It improves accuracy by reducing human calculation mistakes</a:t>
            </a:r>
          </a:p>
          <a:p>
            <a:pPr marL="342900" indent="-342900" algn="just">
              <a:lnSpc>
                <a:spcPct val="150000"/>
              </a:lnSpc>
              <a:buFont typeface="Arial" panose="020B0604020202020204" pitchFamily="34" charset="0"/>
              <a:buChar char="•"/>
            </a:pPr>
            <a:r>
              <a:rPr lang="en-US" sz="2200" dirty="0" smtClean="0"/>
              <a:t>The system provides quick bill generation for customers</a:t>
            </a:r>
            <a:endParaRPr lang="en-IN" sz="2200" dirty="0"/>
          </a:p>
        </p:txBody>
      </p:sp>
    </p:spTree>
    <p:extLst>
      <p:ext uri="{BB962C8B-B14F-4D97-AF65-F5344CB8AC3E}">
        <p14:creationId xmlns:p14="http://schemas.microsoft.com/office/powerpoint/2010/main" xmlns=""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xmlns=""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xmlns=""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xmlns=""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xmlns=""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xmlns=""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xmlns=""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xmlns="" id="{85EA2366-D5A3-7AD8-E7B4-472C3227ADC8}"/>
              </a:ext>
            </a:extLst>
          </p:cNvPr>
          <p:cNvSpPr txBox="1"/>
          <p:nvPr/>
        </p:nvSpPr>
        <p:spPr>
          <a:xfrm>
            <a:off x="762000" y="1480344"/>
            <a:ext cx="8534400" cy="4431983"/>
          </a:xfrm>
          <a:prstGeom prst="rect">
            <a:avLst/>
          </a:prstGeom>
          <a:noFill/>
        </p:spPr>
        <p:txBody>
          <a:bodyPr wrap="square" rtlCol="0">
            <a:spAutoFit/>
          </a:bodyPr>
          <a:lstStyle/>
          <a:p>
            <a:pPr>
              <a:spcBef>
                <a:spcPts val="1200"/>
              </a:spcBef>
            </a:pPr>
            <a:r>
              <a:rPr lang="en-US" sz="2400" b="1" dirty="0">
                <a:latin typeface="Times New Roman" panose="02020603050405020304" pitchFamily="18" charset="0"/>
                <a:cs typeface="Times New Roman" panose="02020603050405020304" pitchFamily="18" charset="0"/>
              </a:rPr>
              <a:t>Existing System</a:t>
            </a:r>
          </a:p>
          <a:p>
            <a:pPr marL="285750" lvl="3" indent="-285750">
              <a:lnSpc>
                <a:spcPct val="150000"/>
              </a:lnSpc>
              <a:spcBef>
                <a:spcPts val="1200"/>
              </a:spcBef>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Custmor</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records are maintained using:</a:t>
            </a:r>
          </a:p>
          <a:p>
            <a:pPr marL="1081088" lvl="7" indent="-285750">
              <a:lnSpc>
                <a:spcPct val="150000"/>
              </a:lnSpc>
              <a:spcBef>
                <a:spcPts val="120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Manual registers</a:t>
            </a:r>
          </a:p>
          <a:p>
            <a:pPr marL="1081088" lvl="7" indent="-285750">
              <a:lnSpc>
                <a:spcPct val="150000"/>
              </a:lnSpc>
              <a:spcBef>
                <a:spcPts val="120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Excel </a:t>
            </a:r>
            <a:r>
              <a:rPr lang="en-US" sz="2200" dirty="0" smtClean="0">
                <a:latin typeface="Times New Roman" panose="02020603050405020304" pitchFamily="18" charset="0"/>
                <a:cs typeface="Times New Roman" panose="02020603050405020304" pitchFamily="18" charset="0"/>
              </a:rPr>
              <a:t>sheets</a:t>
            </a:r>
            <a:endParaRPr lang="en-US" sz="2200" dirty="0">
              <a:latin typeface="Times New Roman" panose="02020603050405020304" pitchFamily="18" charset="0"/>
              <a:cs typeface="Times New Roman" panose="02020603050405020304" pitchFamily="18" charset="0"/>
            </a:endParaRPr>
          </a:p>
          <a:p>
            <a:pPr marL="285750" lvl="2" indent="-285750">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Data entry and retrieval depend heavily on human effort.</a:t>
            </a:r>
          </a:p>
          <a:p>
            <a:pPr marL="285750" lvl="2" indent="-285750">
              <a:lnSpc>
                <a:spcPct val="150000"/>
              </a:lnSpc>
              <a:spcBef>
                <a:spcPts val="1200"/>
              </a:spcBef>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Limited </a:t>
            </a:r>
            <a:r>
              <a:rPr lang="en-US" sz="2200" dirty="0">
                <a:latin typeface="Times New Roman" panose="02020603050405020304" pitchFamily="18" charset="0"/>
                <a:cs typeface="Times New Roman" panose="02020603050405020304" pitchFamily="18" charset="0"/>
              </a:rPr>
              <a:t>data security and access control</a:t>
            </a:r>
            <a:r>
              <a:rPr lang="en-US" sz="2200" dirty="0" smtClean="0">
                <a:latin typeface="Times New Roman" panose="02020603050405020304" pitchFamily="18" charset="0"/>
                <a:cs typeface="Times New Roman" panose="02020603050405020304" pitchFamily="18" charset="0"/>
              </a:rPr>
              <a:t>.</a:t>
            </a:r>
          </a:p>
          <a:p>
            <a:pPr marL="285750" lvl="2" indent="-285750">
              <a:lnSpc>
                <a:spcPct val="150000"/>
              </a:lnSpc>
              <a:spcBef>
                <a:spcPts val="1200"/>
              </a:spcBef>
              <a:buFont typeface="Arial" panose="020B0604020202020204" pitchFamily="34" charset="0"/>
              <a:buChar char="•"/>
            </a:pPr>
            <a:r>
              <a:rPr lang="en-US" sz="2200" dirty="0" smtClean="0">
                <a:latin typeface="Times New Roman" pitchFamily="18" charset="0"/>
                <a:cs typeface="Times New Roman" pitchFamily="18" charset="0"/>
              </a:rPr>
              <a:t>Difficult to search old bills and sales records</a:t>
            </a:r>
            <a:endParaRPr lang="en-IN" sz="2200" dirty="0">
              <a:latin typeface="Times New Roman" pitchFamily="18" charset="0"/>
              <a:cs typeface="Times New Roman" pitchFamily="18" charset="0"/>
            </a:endParaRPr>
          </a:p>
        </p:txBody>
      </p:sp>
      <p:pic>
        <p:nvPicPr>
          <p:cNvPr id="17" name="object 3">
            <a:extLst>
              <a:ext uri="{FF2B5EF4-FFF2-40B4-BE49-F238E27FC236}">
                <a16:creationId xmlns:a16="http://schemas.microsoft.com/office/drawing/2014/main" xmlns=""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xmlns=""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DABB4592-5775-79D7-4F02-0BE4F7025B51}"/>
              </a:ext>
            </a:extLst>
          </p:cNvPr>
          <p:cNvSpPr txBox="1"/>
          <p:nvPr/>
        </p:nvSpPr>
        <p:spPr>
          <a:xfrm>
            <a:off x="950118" y="1323261"/>
            <a:ext cx="8574881"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smtClean="0">
                <a:latin typeface="Times New Roman" pitchFamily="18" charset="0"/>
                <a:cs typeface="Times New Roman" pitchFamily="18" charset="0"/>
              </a:rPr>
              <a:t>The Billing System project aims to automate the billing process and manage billing data efficiently. </a:t>
            </a:r>
          </a:p>
          <a:p>
            <a:pPr marL="342900" indent="-342900" algn="just">
              <a:lnSpc>
                <a:spcPct val="150000"/>
              </a:lnSpc>
              <a:buFont typeface="Arial" panose="020B0604020202020204" pitchFamily="34" charset="0"/>
              <a:buChar char="•"/>
            </a:pPr>
            <a:r>
              <a:rPr lang="en-US" sz="2000" dirty="0" smtClean="0">
                <a:latin typeface="Times New Roman" pitchFamily="18" charset="0"/>
                <a:cs typeface="Times New Roman" pitchFamily="18" charset="0"/>
              </a:rPr>
              <a:t>The proposed system overcomes the drawbacks of the existing manual billing system by reducing errors and saving time. </a:t>
            </a:r>
          </a:p>
          <a:p>
            <a:pPr marL="342900" indent="-342900" algn="just">
              <a:lnSpc>
                <a:spcPct val="150000"/>
              </a:lnSpc>
              <a:buFont typeface="Arial" panose="020B0604020202020204" pitchFamily="34" charset="0"/>
              <a:buChar char="•"/>
            </a:pPr>
            <a:r>
              <a:rPr lang="en-US" sz="2000" dirty="0" smtClean="0">
                <a:latin typeface="Times New Roman" pitchFamily="18" charset="0"/>
                <a:cs typeface="Times New Roman" pitchFamily="18" charset="0"/>
              </a:rPr>
              <a:t>Java programming and database integration provide accuracy, reliability, and scalability to the system. </a:t>
            </a:r>
          </a:p>
          <a:p>
            <a:pPr marL="342900" indent="-342900" algn="just">
              <a:lnSpc>
                <a:spcPct val="150000"/>
              </a:lnSpc>
              <a:buFont typeface="Arial" panose="020B0604020202020204" pitchFamily="34" charset="0"/>
              <a:buChar char="•"/>
            </a:pPr>
            <a:r>
              <a:rPr lang="en-US" sz="2000" dirty="0" smtClean="0">
                <a:latin typeface="Times New Roman" pitchFamily="18" charset="0"/>
                <a:cs typeface="Times New Roman" pitchFamily="18" charset="0"/>
              </a:rPr>
              <a:t>The initial phase of the project focuses on requirement analysis, understanding the billing process, and planning system modules. Future phases will concentrate on implementation, testing, and further enhancements to improve system performance and usability.</a:t>
            </a:r>
            <a:endParaRPr lang="en-IN" sz="2000" dirty="0">
              <a:latin typeface="Times New Roman" pitchFamily="18" charset="0"/>
              <a:cs typeface="Times New Roman" pitchFamily="18" charset="0"/>
            </a:endParaRPr>
          </a:p>
        </p:txBody>
      </p:sp>
      <p:grpSp>
        <p:nvGrpSpPr>
          <p:cNvPr id="7" name="object 3">
            <a:extLst>
              <a:ext uri="{FF2B5EF4-FFF2-40B4-BE49-F238E27FC236}">
                <a16:creationId xmlns:a16="http://schemas.microsoft.com/office/drawing/2014/main" xmlns=""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xmlns=""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xmlns=""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xmlns=""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xmlns=""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xmlns=""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xmlns=""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xmlns="" val="269419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xmlns=""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xmlns=""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2508</TotalTime>
  <Words>350</Words>
  <Application>Microsoft Office PowerPoint</Application>
  <PresentationFormat>Custom</PresentationFormat>
  <Paragraphs>43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Java Programming Capstone Project First Review</vt:lpstr>
      <vt:lpstr>Slide 2</vt:lpstr>
      <vt:lpstr>ABSTRACT</vt:lpstr>
      <vt:lpstr>Slide 4</vt:lpstr>
      <vt:lpstr>Slide 5</vt:lpstr>
      <vt:lpstr>Slide 6</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user</cp:lastModifiedBy>
  <cp:revision>49</cp:revision>
  <cp:lastPrinted>2025-10-14T18:21:49Z</cp:lastPrinted>
  <dcterms:created xsi:type="dcterms:W3CDTF">2025-10-10T08:28:06Z</dcterms:created>
  <dcterms:modified xsi:type="dcterms:W3CDTF">2026-01-20T05:39:48Z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